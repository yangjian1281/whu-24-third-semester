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314" r:id="rId6"/>
    <p:sldId id="309" r:id="rId7"/>
    <p:sldId id="312" r:id="rId8"/>
    <p:sldId id="316" r:id="rId9"/>
    <p:sldId id="323" r:id="rId10"/>
    <p:sldId id="324" r:id="rId11"/>
    <p:sldId id="332" r:id="rId12"/>
    <p:sldId id="331" r:id="rId13"/>
    <p:sldId id="327" r:id="rId14"/>
    <p:sldId id="328" r:id="rId15"/>
    <p:sldId id="330" r:id="rId16"/>
    <p:sldId id="329" r:id="rId17"/>
    <p:sldId id="325" r:id="rId18"/>
    <p:sldId id="326" r:id="rId19"/>
    <p:sldId id="317" r:id="rId20"/>
    <p:sldId id="318" r:id="rId21"/>
    <p:sldId id="319" r:id="rId22"/>
    <p:sldId id="320" r:id="rId23"/>
    <p:sldId id="321" r:id="rId24"/>
    <p:sldId id="311" r:id="rId25"/>
    <p:sldId id="322" r:id="rId26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6371"/>
    <a:srgbClr val="00CEEA"/>
    <a:srgbClr val="D9FAFF"/>
    <a:srgbClr val="BDFFFD"/>
    <a:srgbClr val="01A1B7"/>
    <a:srgbClr val="02B6CE"/>
    <a:srgbClr val="018091"/>
    <a:srgbClr val="018A9D"/>
    <a:srgbClr val="ADFDF0"/>
    <a:srgbClr val="57FB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186" autoAdjust="0"/>
    <p:restoredTop sz="75170" autoAdjust="0"/>
  </p:normalViewPr>
  <p:slideViewPr>
    <p:cSldViewPr snapToGrid="0">
      <p:cViewPr varScale="1">
        <p:scale>
          <a:sx n="63" d="100"/>
          <a:sy n="63" d="100"/>
        </p:scale>
        <p:origin x="128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CD39DD-DA48-48EB-BF0E-974F06DD747B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E430CC-CF76-4512-9E43-F5E43EF3EE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E430CC-CF76-4512-9E43-F5E43EF3EED8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slideLayout" Target="../slideLayouts/slideLayout12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2" Type="http://schemas.openxmlformats.org/officeDocument/2006/relationships/tags" Target="../tags/tag3.xml"/><Relationship Id="rId16" Type="http://schemas.openxmlformats.org/officeDocument/2006/relationships/image" Target="../media/image3.jpe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image" Target="../media/image2.png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cnblogs.com/jpSpaceX/p/14865290.html" TargetMode="External"/><Relationship Id="rId4" Type="http://schemas.openxmlformats.org/officeDocument/2006/relationships/hyperlink" Target="https://www.jianshu.com/p/e97f6555a070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 flipH="1">
            <a:off x="0" y="0"/>
            <a:ext cx="12192000" cy="6858001"/>
            <a:chOff x="2" y="0"/>
            <a:chExt cx="12192000" cy="6858001"/>
          </a:xfrm>
        </p:grpSpPr>
        <p:grpSp>
          <p:nvGrpSpPr>
            <p:cNvPr id="5" name="组合 4"/>
            <p:cNvGrpSpPr/>
            <p:nvPr/>
          </p:nvGrpSpPr>
          <p:grpSpPr>
            <a:xfrm>
              <a:off x="2" y="0"/>
              <a:ext cx="3135084" cy="5941181"/>
              <a:chOff x="0" y="0"/>
              <a:chExt cx="2590667" cy="4976958"/>
            </a:xfrm>
          </p:grpSpPr>
          <p:sp>
            <p:nvSpPr>
              <p:cNvPr id="9" name="矩形 1"/>
              <p:cNvSpPr/>
              <p:nvPr/>
            </p:nvSpPr>
            <p:spPr>
              <a:xfrm>
                <a:off x="0" y="0"/>
                <a:ext cx="2590667" cy="4976958"/>
              </a:xfrm>
              <a:custGeom>
                <a:avLst/>
                <a:gdLst>
                  <a:gd name="connsiteX0" fmla="*/ 0 w 2278743"/>
                  <a:gd name="connsiteY0" fmla="*/ 0 h 3689577"/>
                  <a:gd name="connsiteX1" fmla="*/ 2278743 w 2278743"/>
                  <a:gd name="connsiteY1" fmla="*/ 0 h 3689577"/>
                  <a:gd name="connsiteX2" fmla="*/ 2278743 w 2278743"/>
                  <a:gd name="connsiteY2" fmla="*/ 3689577 h 3689577"/>
                  <a:gd name="connsiteX3" fmla="*/ 0 w 2278743"/>
                  <a:gd name="connsiteY3" fmla="*/ 3689577 h 3689577"/>
                  <a:gd name="connsiteX4" fmla="*/ 0 w 2278743"/>
                  <a:gd name="connsiteY4" fmla="*/ 0 h 3689577"/>
                  <a:gd name="connsiteX0-1" fmla="*/ 0 w 2278743"/>
                  <a:gd name="connsiteY0-2" fmla="*/ 0 h 3689577"/>
                  <a:gd name="connsiteX1-3" fmla="*/ 2278743 w 2278743"/>
                  <a:gd name="connsiteY1-4" fmla="*/ 0 h 3689577"/>
                  <a:gd name="connsiteX2-5" fmla="*/ 0 w 2278743"/>
                  <a:gd name="connsiteY2-6" fmla="*/ 3689577 h 3689577"/>
                  <a:gd name="connsiteX3-7" fmla="*/ 0 w 2278743"/>
                  <a:gd name="connsiteY3-8" fmla="*/ 0 h 3689577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2278743" h="3689577">
                    <a:moveTo>
                      <a:pt x="0" y="0"/>
                    </a:moveTo>
                    <a:lnTo>
                      <a:pt x="2278743" y="0"/>
                    </a:lnTo>
                    <a:lnTo>
                      <a:pt x="0" y="36895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8A9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cs typeface="+mn-ea"/>
                  <a:sym typeface="+mn-lt"/>
                </a:endParaRPr>
              </a:p>
            </p:txBody>
          </p:sp>
          <p:sp>
            <p:nvSpPr>
              <p:cNvPr id="10" name="矩形 1"/>
              <p:cNvSpPr/>
              <p:nvPr/>
            </p:nvSpPr>
            <p:spPr>
              <a:xfrm>
                <a:off x="0" y="0"/>
                <a:ext cx="2590667" cy="3689577"/>
              </a:xfrm>
              <a:custGeom>
                <a:avLst/>
                <a:gdLst>
                  <a:gd name="connsiteX0" fmla="*/ 0 w 2278743"/>
                  <a:gd name="connsiteY0" fmla="*/ 0 h 3689577"/>
                  <a:gd name="connsiteX1" fmla="*/ 2278743 w 2278743"/>
                  <a:gd name="connsiteY1" fmla="*/ 0 h 3689577"/>
                  <a:gd name="connsiteX2" fmla="*/ 2278743 w 2278743"/>
                  <a:gd name="connsiteY2" fmla="*/ 3689577 h 3689577"/>
                  <a:gd name="connsiteX3" fmla="*/ 0 w 2278743"/>
                  <a:gd name="connsiteY3" fmla="*/ 3689577 h 3689577"/>
                  <a:gd name="connsiteX4" fmla="*/ 0 w 2278743"/>
                  <a:gd name="connsiteY4" fmla="*/ 0 h 3689577"/>
                  <a:gd name="connsiteX0-1" fmla="*/ 0 w 2278743"/>
                  <a:gd name="connsiteY0-2" fmla="*/ 0 h 3689577"/>
                  <a:gd name="connsiteX1-3" fmla="*/ 2278743 w 2278743"/>
                  <a:gd name="connsiteY1-4" fmla="*/ 0 h 3689577"/>
                  <a:gd name="connsiteX2-5" fmla="*/ 0 w 2278743"/>
                  <a:gd name="connsiteY2-6" fmla="*/ 3689577 h 3689577"/>
                  <a:gd name="connsiteX3-7" fmla="*/ 0 w 2278743"/>
                  <a:gd name="connsiteY3-8" fmla="*/ 0 h 3689577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2278743" h="3689577">
                    <a:moveTo>
                      <a:pt x="0" y="0"/>
                    </a:moveTo>
                    <a:lnTo>
                      <a:pt x="2278743" y="0"/>
                    </a:lnTo>
                    <a:lnTo>
                      <a:pt x="0" y="36895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63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cs typeface="+mn-ea"/>
                  <a:sym typeface="+mn-lt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9463315" y="1664306"/>
              <a:ext cx="2728687" cy="5193695"/>
              <a:chOff x="7715421" y="1884933"/>
              <a:chExt cx="1428579" cy="3258567"/>
            </a:xfrm>
          </p:grpSpPr>
          <p:sp>
            <p:nvSpPr>
              <p:cNvPr id="7" name="矩形 10"/>
              <p:cNvSpPr/>
              <p:nvPr/>
            </p:nvSpPr>
            <p:spPr>
              <a:xfrm>
                <a:off x="7715421" y="1884933"/>
                <a:ext cx="1428579" cy="3258567"/>
              </a:xfrm>
              <a:custGeom>
                <a:avLst/>
                <a:gdLst>
                  <a:gd name="connsiteX0" fmla="*/ 0 w 2278743"/>
                  <a:gd name="connsiteY0" fmla="*/ 0 h 3689577"/>
                  <a:gd name="connsiteX1" fmla="*/ 2278743 w 2278743"/>
                  <a:gd name="connsiteY1" fmla="*/ 0 h 3689577"/>
                  <a:gd name="connsiteX2" fmla="*/ 2278743 w 2278743"/>
                  <a:gd name="connsiteY2" fmla="*/ 3689577 h 3689577"/>
                  <a:gd name="connsiteX3" fmla="*/ 0 w 2278743"/>
                  <a:gd name="connsiteY3" fmla="*/ 3689577 h 3689577"/>
                  <a:gd name="connsiteX4" fmla="*/ 0 w 2278743"/>
                  <a:gd name="connsiteY4" fmla="*/ 0 h 3689577"/>
                  <a:gd name="connsiteX0-1" fmla="*/ 0 w 2278743"/>
                  <a:gd name="connsiteY0-2" fmla="*/ 3689577 h 3689577"/>
                  <a:gd name="connsiteX1-3" fmla="*/ 2278743 w 2278743"/>
                  <a:gd name="connsiteY1-4" fmla="*/ 0 h 3689577"/>
                  <a:gd name="connsiteX2-5" fmla="*/ 2278743 w 2278743"/>
                  <a:gd name="connsiteY2-6" fmla="*/ 3689577 h 3689577"/>
                  <a:gd name="connsiteX3-7" fmla="*/ 0 w 2278743"/>
                  <a:gd name="connsiteY3-8" fmla="*/ 3689577 h 3689577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2278743" h="3689577">
                    <a:moveTo>
                      <a:pt x="0" y="3689577"/>
                    </a:moveTo>
                    <a:lnTo>
                      <a:pt x="2278743" y="0"/>
                    </a:lnTo>
                    <a:lnTo>
                      <a:pt x="2278743" y="3689577"/>
                    </a:lnTo>
                    <a:lnTo>
                      <a:pt x="0" y="3689577"/>
                    </a:lnTo>
                    <a:close/>
                  </a:path>
                </a:pathLst>
              </a:custGeom>
              <a:solidFill>
                <a:srgbClr val="018A9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cs typeface="+mn-ea"/>
                  <a:sym typeface="+mn-lt"/>
                </a:endParaRPr>
              </a:p>
            </p:txBody>
          </p:sp>
          <p:sp>
            <p:nvSpPr>
              <p:cNvPr id="8" name="矩形 10"/>
              <p:cNvSpPr/>
              <p:nvPr/>
            </p:nvSpPr>
            <p:spPr>
              <a:xfrm>
                <a:off x="7715421" y="2606134"/>
                <a:ext cx="1428579" cy="2537366"/>
              </a:xfrm>
              <a:custGeom>
                <a:avLst/>
                <a:gdLst>
                  <a:gd name="connsiteX0" fmla="*/ 0 w 2278743"/>
                  <a:gd name="connsiteY0" fmla="*/ 0 h 3689577"/>
                  <a:gd name="connsiteX1" fmla="*/ 2278743 w 2278743"/>
                  <a:gd name="connsiteY1" fmla="*/ 0 h 3689577"/>
                  <a:gd name="connsiteX2" fmla="*/ 2278743 w 2278743"/>
                  <a:gd name="connsiteY2" fmla="*/ 3689577 h 3689577"/>
                  <a:gd name="connsiteX3" fmla="*/ 0 w 2278743"/>
                  <a:gd name="connsiteY3" fmla="*/ 3689577 h 3689577"/>
                  <a:gd name="connsiteX4" fmla="*/ 0 w 2278743"/>
                  <a:gd name="connsiteY4" fmla="*/ 0 h 3689577"/>
                  <a:gd name="connsiteX0-1" fmla="*/ 0 w 2278743"/>
                  <a:gd name="connsiteY0-2" fmla="*/ 3689577 h 3689577"/>
                  <a:gd name="connsiteX1-3" fmla="*/ 2278743 w 2278743"/>
                  <a:gd name="connsiteY1-4" fmla="*/ 0 h 3689577"/>
                  <a:gd name="connsiteX2-5" fmla="*/ 2278743 w 2278743"/>
                  <a:gd name="connsiteY2-6" fmla="*/ 3689577 h 3689577"/>
                  <a:gd name="connsiteX3-7" fmla="*/ 0 w 2278743"/>
                  <a:gd name="connsiteY3-8" fmla="*/ 3689577 h 3689577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2278743" h="3689577">
                    <a:moveTo>
                      <a:pt x="0" y="3689577"/>
                    </a:moveTo>
                    <a:lnTo>
                      <a:pt x="2278743" y="0"/>
                    </a:lnTo>
                    <a:lnTo>
                      <a:pt x="2278743" y="3689577"/>
                    </a:lnTo>
                    <a:lnTo>
                      <a:pt x="0" y="3689577"/>
                    </a:lnTo>
                    <a:close/>
                  </a:path>
                </a:pathLst>
              </a:custGeom>
              <a:solidFill>
                <a:srgbClr val="0163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11" name="文本框 10"/>
          <p:cNvSpPr txBox="1"/>
          <p:nvPr/>
        </p:nvSpPr>
        <p:spPr>
          <a:xfrm>
            <a:off x="1028700" y="2813685"/>
            <a:ext cx="98653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800" b="1">
                <a:gradFill flip="none" rotWithShape="1">
                  <a:gsLst>
                    <a:gs pos="53000">
                      <a:srgbClr val="FFC000"/>
                    </a:gs>
                    <a:gs pos="84000">
                      <a:schemeClr val="accent6">
                        <a:lumMod val="0"/>
                        <a:lumOff val="100000"/>
                      </a:schemeClr>
                    </a:gs>
                    <a:gs pos="20000">
                      <a:srgbClr val="FF9900"/>
                    </a:gs>
                  </a:gsLst>
                  <a:lin ang="16200000" scaled="1"/>
                  <a:tileRect/>
                </a:gradFill>
                <a:effectLst>
                  <a:outerShdw blurRad="101600" dist="38100" dir="5400000" algn="t" rotWithShape="0">
                    <a:prstClr val="black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40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lt"/>
              </a:rPr>
              <a:t>m3u8</a:t>
            </a:r>
            <a:r>
              <a:rPr lang="zh-CN" altLang="en-US" sz="40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lt"/>
              </a:rPr>
              <a:t>流媒体格式数据获取实验</a:t>
            </a:r>
            <a:r>
              <a:rPr lang="en-US" altLang="zh-CN" sz="40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lt"/>
              </a:rPr>
              <a:t>      </a:t>
            </a:r>
            <a:endParaRPr lang="zh-CN" altLang="en-US" sz="4000" dirty="0">
              <a:solidFill>
                <a:schemeClr val="accent1">
                  <a:lumMod val="50000"/>
                </a:schemeClr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lt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515745" y="3539490"/>
            <a:ext cx="8890635" cy="0"/>
          </a:xfrm>
          <a:prstGeom prst="line">
            <a:avLst/>
          </a:prstGeom>
          <a:ln w="952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3904994" y="4230741"/>
            <a:ext cx="4417643" cy="401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AI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程序设计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62" y="222267"/>
            <a:ext cx="2333625" cy="74295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5040886" y="6184540"/>
            <a:ext cx="214657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202</a:t>
            </a:r>
            <a:r>
              <a:rPr lang="en-US" altLang="zh-CN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6</a:t>
            </a:r>
            <a:r>
              <a:rPr lang="en-US" sz="18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.</a:t>
            </a:r>
            <a:r>
              <a:rPr lang="en-US" altLang="zh-CN" sz="18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07</a:t>
            </a:r>
            <a:endParaRPr lang="en-US" sz="1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1"/>
          <p:cNvSpPr/>
          <p:nvPr/>
        </p:nvSpPr>
        <p:spPr>
          <a:xfrm>
            <a:off x="1" y="2468894"/>
            <a:ext cx="6777865" cy="3360372"/>
          </a:xfrm>
          <a:custGeom>
            <a:avLst/>
            <a:gdLst>
              <a:gd name="connsiteX0" fmla="*/ 0 w 4211960"/>
              <a:gd name="connsiteY0" fmla="*/ 0 h 2088232"/>
              <a:gd name="connsiteX1" fmla="*/ 4211960 w 4211960"/>
              <a:gd name="connsiteY1" fmla="*/ 0 h 2088232"/>
              <a:gd name="connsiteX2" fmla="*/ 4211960 w 4211960"/>
              <a:gd name="connsiteY2" fmla="*/ 2088232 h 2088232"/>
              <a:gd name="connsiteX3" fmla="*/ 0 w 4211960"/>
              <a:gd name="connsiteY3" fmla="*/ 2088232 h 2088232"/>
              <a:gd name="connsiteX4" fmla="*/ 0 w 4211960"/>
              <a:gd name="connsiteY4" fmla="*/ 0 h 2088232"/>
              <a:gd name="connsiteX0-1" fmla="*/ 0 w 4211960"/>
              <a:gd name="connsiteY0-2" fmla="*/ 0 h 2088232"/>
              <a:gd name="connsiteX1-3" fmla="*/ 3101133 w 4211960"/>
              <a:gd name="connsiteY1-4" fmla="*/ 0 h 2088232"/>
              <a:gd name="connsiteX2-5" fmla="*/ 4211960 w 4211960"/>
              <a:gd name="connsiteY2-6" fmla="*/ 2088232 h 2088232"/>
              <a:gd name="connsiteX3-7" fmla="*/ 0 w 4211960"/>
              <a:gd name="connsiteY3-8" fmla="*/ 2088232 h 2088232"/>
              <a:gd name="connsiteX4-9" fmla="*/ 0 w 4211960"/>
              <a:gd name="connsiteY4-10" fmla="*/ 0 h 20882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211960" h="2088232">
                <a:moveTo>
                  <a:pt x="0" y="0"/>
                </a:moveTo>
                <a:lnTo>
                  <a:pt x="3101133" y="0"/>
                </a:lnTo>
                <a:lnTo>
                  <a:pt x="4211960" y="2088232"/>
                </a:lnTo>
                <a:lnTo>
                  <a:pt x="0" y="2088232"/>
                </a:lnTo>
                <a:lnTo>
                  <a:pt x="0" y="0"/>
                </a:lnTo>
                <a:close/>
              </a:path>
            </a:pathLst>
          </a:custGeom>
          <a:solidFill>
            <a:srgbClr val="0163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5" name="Group 32" hidden="1"/>
          <p:cNvGrpSpPr/>
          <p:nvPr/>
        </p:nvGrpSpPr>
        <p:grpSpPr>
          <a:xfrm>
            <a:off x="0" y="1943976"/>
            <a:ext cx="10573704" cy="1670827"/>
            <a:chOff x="-41328" y="1943975"/>
            <a:chExt cx="11361717" cy="1670826"/>
          </a:xfrm>
        </p:grpSpPr>
        <p:cxnSp>
          <p:nvCxnSpPr>
            <p:cNvPr id="46" name="Straight Connector 10"/>
            <p:cNvCxnSpPr>
              <a:stCxn id="42" idx="0"/>
            </p:cNvCxnSpPr>
            <p:nvPr/>
          </p:nvCxnSpPr>
          <p:spPr>
            <a:xfrm>
              <a:off x="-41328" y="2468892"/>
              <a:ext cx="2007072" cy="1145909"/>
            </a:xfrm>
            <a:prstGeom prst="line">
              <a:avLst/>
            </a:prstGeom>
            <a:ln w="12700" cap="flat" cmpd="sng" algn="ctr">
              <a:solidFill>
                <a:schemeClr val="accent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13"/>
            <p:cNvCxnSpPr/>
            <p:nvPr/>
          </p:nvCxnSpPr>
          <p:spPr>
            <a:xfrm>
              <a:off x="1897934" y="1943975"/>
              <a:ext cx="1044715" cy="1051258"/>
            </a:xfrm>
            <a:prstGeom prst="line">
              <a:avLst/>
            </a:prstGeom>
            <a:ln w="12700" cap="flat" cmpd="sng" algn="ctr">
              <a:solidFill>
                <a:schemeClr val="accent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18"/>
            <p:cNvCxnSpPr/>
            <p:nvPr/>
          </p:nvCxnSpPr>
          <p:spPr>
            <a:xfrm flipH="1">
              <a:off x="2940929" y="1943975"/>
              <a:ext cx="1046634" cy="1052977"/>
            </a:xfrm>
            <a:prstGeom prst="line">
              <a:avLst/>
            </a:prstGeom>
            <a:ln w="12700" cap="flat" cmpd="sng" algn="ctr">
              <a:solidFill>
                <a:schemeClr val="accent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23"/>
            <p:cNvCxnSpPr/>
            <p:nvPr/>
          </p:nvCxnSpPr>
          <p:spPr>
            <a:xfrm>
              <a:off x="3992369" y="1943975"/>
              <a:ext cx="1044715" cy="1051258"/>
            </a:xfrm>
            <a:prstGeom prst="line">
              <a:avLst/>
            </a:prstGeom>
            <a:ln w="12700" cap="flat" cmpd="sng" algn="ctr">
              <a:solidFill>
                <a:schemeClr val="accent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24"/>
            <p:cNvCxnSpPr/>
            <p:nvPr/>
          </p:nvCxnSpPr>
          <p:spPr>
            <a:xfrm flipH="1">
              <a:off x="5035364" y="1943975"/>
              <a:ext cx="1046634" cy="1052977"/>
            </a:xfrm>
            <a:prstGeom prst="line">
              <a:avLst/>
            </a:prstGeom>
            <a:ln w="12700" cap="flat" cmpd="sng" algn="ctr">
              <a:solidFill>
                <a:schemeClr val="accent3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25"/>
            <p:cNvCxnSpPr/>
            <p:nvPr/>
          </p:nvCxnSpPr>
          <p:spPr>
            <a:xfrm>
              <a:off x="6086804" y="1943975"/>
              <a:ext cx="1044715" cy="1051258"/>
            </a:xfrm>
            <a:prstGeom prst="line">
              <a:avLst/>
            </a:prstGeom>
            <a:ln w="12700" cap="flat" cmpd="sng" algn="ctr">
              <a:solidFill>
                <a:schemeClr val="accent3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26"/>
            <p:cNvCxnSpPr/>
            <p:nvPr/>
          </p:nvCxnSpPr>
          <p:spPr>
            <a:xfrm flipH="1">
              <a:off x="7129799" y="1943975"/>
              <a:ext cx="1046634" cy="1052977"/>
            </a:xfrm>
            <a:prstGeom prst="line">
              <a:avLst/>
            </a:prstGeom>
            <a:ln w="12700" cap="flat" cmpd="sng" algn="ctr">
              <a:solidFill>
                <a:schemeClr val="accent4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27"/>
            <p:cNvCxnSpPr/>
            <p:nvPr/>
          </p:nvCxnSpPr>
          <p:spPr>
            <a:xfrm>
              <a:off x="8181239" y="1943975"/>
              <a:ext cx="1044715" cy="1051258"/>
            </a:xfrm>
            <a:prstGeom prst="line">
              <a:avLst/>
            </a:prstGeom>
            <a:ln w="12700" cap="flat" cmpd="sng" algn="ctr">
              <a:solidFill>
                <a:schemeClr val="accent4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28"/>
            <p:cNvCxnSpPr/>
            <p:nvPr/>
          </p:nvCxnSpPr>
          <p:spPr>
            <a:xfrm flipH="1">
              <a:off x="9224234" y="1943975"/>
              <a:ext cx="1046634" cy="1052977"/>
            </a:xfrm>
            <a:prstGeom prst="line">
              <a:avLst/>
            </a:prstGeom>
            <a:ln w="12700" cap="flat" cmpd="sng" algn="ctr">
              <a:solidFill>
                <a:schemeClr val="accent5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29"/>
            <p:cNvCxnSpPr/>
            <p:nvPr/>
          </p:nvCxnSpPr>
          <p:spPr>
            <a:xfrm>
              <a:off x="10275674" y="1943975"/>
              <a:ext cx="1044715" cy="1051258"/>
            </a:xfrm>
            <a:prstGeom prst="line">
              <a:avLst/>
            </a:prstGeom>
            <a:ln w="12700" cap="flat" cmpd="sng" algn="ctr">
              <a:solidFill>
                <a:schemeClr val="accent5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矩形 1"/>
          <p:cNvSpPr/>
          <p:nvPr/>
        </p:nvSpPr>
        <p:spPr>
          <a:xfrm>
            <a:off x="0" y="1892830"/>
            <a:ext cx="5615947" cy="2784309"/>
          </a:xfrm>
          <a:custGeom>
            <a:avLst/>
            <a:gdLst>
              <a:gd name="connsiteX0" fmla="*/ 0 w 4211960"/>
              <a:gd name="connsiteY0" fmla="*/ 0 h 2088232"/>
              <a:gd name="connsiteX1" fmla="*/ 4211960 w 4211960"/>
              <a:gd name="connsiteY1" fmla="*/ 0 h 2088232"/>
              <a:gd name="connsiteX2" fmla="*/ 4211960 w 4211960"/>
              <a:gd name="connsiteY2" fmla="*/ 2088232 h 2088232"/>
              <a:gd name="connsiteX3" fmla="*/ 0 w 4211960"/>
              <a:gd name="connsiteY3" fmla="*/ 2088232 h 2088232"/>
              <a:gd name="connsiteX4" fmla="*/ 0 w 4211960"/>
              <a:gd name="connsiteY4" fmla="*/ 0 h 2088232"/>
              <a:gd name="connsiteX0-1" fmla="*/ 0 w 4211960"/>
              <a:gd name="connsiteY0-2" fmla="*/ 0 h 2088232"/>
              <a:gd name="connsiteX1-3" fmla="*/ 3101133 w 4211960"/>
              <a:gd name="connsiteY1-4" fmla="*/ 0 h 2088232"/>
              <a:gd name="connsiteX2-5" fmla="*/ 4211960 w 4211960"/>
              <a:gd name="connsiteY2-6" fmla="*/ 2088232 h 2088232"/>
              <a:gd name="connsiteX3-7" fmla="*/ 0 w 4211960"/>
              <a:gd name="connsiteY3-8" fmla="*/ 2088232 h 2088232"/>
              <a:gd name="connsiteX4-9" fmla="*/ 0 w 4211960"/>
              <a:gd name="connsiteY4-10" fmla="*/ 0 h 20882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211960" h="2088232">
                <a:moveTo>
                  <a:pt x="0" y="0"/>
                </a:moveTo>
                <a:lnTo>
                  <a:pt x="3101133" y="0"/>
                </a:lnTo>
                <a:lnTo>
                  <a:pt x="4211960" y="2088232"/>
                </a:lnTo>
                <a:lnTo>
                  <a:pt x="0" y="208823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57" name="Group 5"/>
          <p:cNvGrpSpPr/>
          <p:nvPr>
            <p:custDataLst>
              <p:tags r:id="rId1"/>
            </p:custDataLst>
          </p:nvPr>
        </p:nvGrpSpPr>
        <p:grpSpPr>
          <a:xfrm>
            <a:off x="7334687" y="1111728"/>
            <a:ext cx="4477601" cy="707887"/>
            <a:chOff x="1598315" y="1418185"/>
            <a:chExt cx="4477601" cy="707886"/>
          </a:xfrm>
        </p:grpSpPr>
        <p:sp>
          <p:nvSpPr>
            <p:cNvPr id="58" name="TextBox 6"/>
            <p:cNvSpPr txBox="1"/>
            <p:nvPr>
              <p:custDataLst>
                <p:tags r:id="rId11"/>
              </p:custDataLst>
            </p:nvPr>
          </p:nvSpPr>
          <p:spPr>
            <a:xfrm>
              <a:off x="1598315" y="1418185"/>
              <a:ext cx="655949" cy="707886"/>
            </a:xfrm>
            <a:prstGeom prst="rect">
              <a:avLst/>
            </a:prstGeom>
            <a:noFill/>
          </p:spPr>
          <p:txBody>
            <a:bodyPr wrap="none" anchor="ctr">
              <a:normAutofit fontScale="85000" lnSpcReduction="20000"/>
            </a:bodyPr>
            <a:lstStyle/>
            <a:p>
              <a:r>
                <a:rPr lang="en-US" altLang="zh-CN" sz="5335" dirty="0">
                  <a:solidFill>
                    <a:srgbClr val="016371"/>
                  </a:solidFill>
                  <a:latin typeface="Stencil Std" panose="04020904080802020404" pitchFamily="82" charset="0"/>
                  <a:ea typeface="方正黑体简体" panose="02010601030101010101" pitchFamily="2" charset="-122"/>
                </a:rPr>
                <a:t>01</a:t>
              </a:r>
            </a:p>
          </p:txBody>
        </p:sp>
        <p:sp>
          <p:nvSpPr>
            <p:cNvPr id="60" name="TextBox 8"/>
            <p:cNvSpPr txBox="1"/>
            <p:nvPr>
              <p:custDataLst>
                <p:tags r:id="rId12"/>
              </p:custDataLst>
            </p:nvPr>
          </p:nvSpPr>
          <p:spPr>
            <a:xfrm>
              <a:off x="2113342" y="1509514"/>
              <a:ext cx="3962574" cy="525227"/>
            </a:xfrm>
            <a:prstGeom prst="rect">
              <a:avLst/>
            </a:prstGeom>
            <a:noFill/>
          </p:spPr>
          <p:txBody>
            <a:bodyPr wrap="none" lIns="480000" tIns="0" rIns="0" bIns="0" anchor="b" anchorCtr="0">
              <a:noAutofit/>
            </a:bodyPr>
            <a:lstStyle/>
            <a:p>
              <a:r>
                <a:rPr lang="zh-CN" altLang="en-US" sz="2665" dirty="0">
                  <a:solidFill>
                    <a:srgbClr val="01637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基础知识</a:t>
              </a:r>
            </a:p>
          </p:txBody>
        </p:sp>
      </p:grpSp>
      <p:grpSp>
        <p:nvGrpSpPr>
          <p:cNvPr id="64" name="Group 10"/>
          <p:cNvGrpSpPr/>
          <p:nvPr>
            <p:custDataLst>
              <p:tags r:id="rId2"/>
            </p:custDataLst>
          </p:nvPr>
        </p:nvGrpSpPr>
        <p:grpSpPr>
          <a:xfrm>
            <a:off x="7356350" y="2359197"/>
            <a:ext cx="3767777" cy="707889"/>
            <a:chOff x="1573003" y="2960430"/>
            <a:chExt cx="3767778" cy="707887"/>
          </a:xfrm>
        </p:grpSpPr>
        <p:sp>
          <p:nvSpPr>
            <p:cNvPr id="65" name="TextBox 11"/>
            <p:cNvSpPr txBox="1"/>
            <p:nvPr>
              <p:custDataLst>
                <p:tags r:id="rId9"/>
              </p:custDataLst>
            </p:nvPr>
          </p:nvSpPr>
          <p:spPr>
            <a:xfrm>
              <a:off x="1573003" y="2960430"/>
              <a:ext cx="718465" cy="707887"/>
            </a:xfrm>
            <a:prstGeom prst="rect">
              <a:avLst/>
            </a:prstGeom>
            <a:noFill/>
          </p:spPr>
          <p:txBody>
            <a:bodyPr wrap="none" anchor="ctr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453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tencil Std" panose="04020904080802020404" pitchFamily="82" charset="0"/>
                  <a:ea typeface="方正黑体简体" panose="02010601030101010101" pitchFamily="2" charset="-122"/>
                </a:rPr>
                <a:t>02</a:t>
              </a:r>
            </a:p>
          </p:txBody>
        </p:sp>
        <p:sp>
          <p:nvSpPr>
            <p:cNvPr id="89" name="TextBox 13"/>
            <p:cNvSpPr txBox="1"/>
            <p:nvPr>
              <p:custDataLst>
                <p:tags r:id="rId10"/>
              </p:custDataLst>
            </p:nvPr>
          </p:nvSpPr>
          <p:spPr>
            <a:xfrm>
              <a:off x="2096672" y="3010990"/>
              <a:ext cx="3244109" cy="563232"/>
            </a:xfrm>
            <a:prstGeom prst="rect">
              <a:avLst/>
            </a:prstGeom>
            <a:noFill/>
          </p:spPr>
          <p:txBody>
            <a:bodyPr wrap="none" lIns="480000" tIns="0" rIns="0" bIns="0" anchor="b" anchorCtr="0">
              <a:normAutofit/>
            </a:bodyPr>
            <a:lstStyle/>
            <a:p>
              <a:r>
                <a:rPr lang="zh-CN" altLang="en-US" sz="266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学习目标</a:t>
              </a:r>
            </a:p>
          </p:txBody>
        </p:sp>
      </p:grpSp>
      <p:grpSp>
        <p:nvGrpSpPr>
          <p:cNvPr id="91" name="Group 15"/>
          <p:cNvGrpSpPr/>
          <p:nvPr>
            <p:custDataLst>
              <p:tags r:id="rId3"/>
            </p:custDataLst>
          </p:nvPr>
        </p:nvGrpSpPr>
        <p:grpSpPr>
          <a:xfrm>
            <a:off x="7381662" y="3480329"/>
            <a:ext cx="4454869" cy="707887"/>
            <a:chOff x="1598315" y="4154489"/>
            <a:chExt cx="4454870" cy="707886"/>
          </a:xfrm>
        </p:grpSpPr>
        <p:sp>
          <p:nvSpPr>
            <p:cNvPr id="92" name="TextBox 16"/>
            <p:cNvSpPr txBox="1"/>
            <p:nvPr>
              <p:custDataLst>
                <p:tags r:id="rId7"/>
              </p:custDataLst>
            </p:nvPr>
          </p:nvSpPr>
          <p:spPr>
            <a:xfrm>
              <a:off x="1598315" y="4154489"/>
              <a:ext cx="732893" cy="707886"/>
            </a:xfrm>
            <a:prstGeom prst="rect">
              <a:avLst/>
            </a:prstGeom>
            <a:noFill/>
          </p:spPr>
          <p:txBody>
            <a:bodyPr wrap="none" anchor="ctr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4535" dirty="0">
                  <a:solidFill>
                    <a:srgbClr val="016371"/>
                  </a:solidFill>
                  <a:latin typeface="Stencil Std" panose="04020904080802020404" pitchFamily="82" charset="0"/>
                  <a:ea typeface="方正黑体简体" panose="02010601030101010101" pitchFamily="2" charset="-122"/>
                </a:rPr>
                <a:t>03</a:t>
              </a:r>
            </a:p>
          </p:txBody>
        </p:sp>
        <p:sp>
          <p:nvSpPr>
            <p:cNvPr id="94" name="TextBox 18"/>
            <p:cNvSpPr txBox="1"/>
            <p:nvPr>
              <p:custDataLst>
                <p:tags r:id="rId8"/>
              </p:custDataLst>
            </p:nvPr>
          </p:nvSpPr>
          <p:spPr>
            <a:xfrm>
              <a:off x="2090611" y="4271520"/>
              <a:ext cx="3962574" cy="520360"/>
            </a:xfrm>
            <a:prstGeom prst="rect">
              <a:avLst/>
            </a:prstGeom>
            <a:noFill/>
          </p:spPr>
          <p:txBody>
            <a:bodyPr wrap="none" lIns="480000" tIns="0" rIns="0" bIns="0" anchor="b" anchorCtr="0">
              <a:normAutofit/>
            </a:bodyPr>
            <a:lstStyle/>
            <a:p>
              <a:r>
                <a:rPr lang="zh-CN" altLang="en-US" sz="2665">
                  <a:solidFill>
                    <a:srgbClr val="01637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具体步骤</a:t>
              </a:r>
              <a:endParaRPr lang="zh-CN" altLang="en-US" sz="2665" dirty="0">
                <a:solidFill>
                  <a:srgbClr val="016371"/>
                </a:solidFill>
                <a:latin typeface="方正黑体简体" panose="02010601030101010101" pitchFamily="2" charset="-122"/>
                <a:ea typeface="方正黑体简体" panose="02010601030101010101" pitchFamily="2" charset="-122"/>
              </a:endParaRPr>
            </a:p>
          </p:txBody>
        </p:sp>
      </p:grpSp>
      <p:grpSp>
        <p:nvGrpSpPr>
          <p:cNvPr id="96" name="Group 20"/>
          <p:cNvGrpSpPr/>
          <p:nvPr>
            <p:custDataLst>
              <p:tags r:id="rId4"/>
            </p:custDataLst>
          </p:nvPr>
        </p:nvGrpSpPr>
        <p:grpSpPr>
          <a:xfrm>
            <a:off x="7381662" y="4742408"/>
            <a:ext cx="4430625" cy="707888"/>
            <a:chOff x="1598315" y="5522641"/>
            <a:chExt cx="4430626" cy="707886"/>
          </a:xfrm>
        </p:grpSpPr>
        <p:sp>
          <p:nvSpPr>
            <p:cNvPr id="97" name="TextBox 21"/>
            <p:cNvSpPr txBox="1"/>
            <p:nvPr>
              <p:custDataLst>
                <p:tags r:id="rId5"/>
              </p:custDataLst>
            </p:nvPr>
          </p:nvSpPr>
          <p:spPr>
            <a:xfrm>
              <a:off x="1598315" y="5522641"/>
              <a:ext cx="716863" cy="707886"/>
            </a:xfrm>
            <a:prstGeom prst="rect">
              <a:avLst/>
            </a:prstGeom>
            <a:noFill/>
          </p:spPr>
          <p:txBody>
            <a:bodyPr wrap="none" anchor="ctr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453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tencil Std" panose="04020904080802020404" pitchFamily="82" charset="0"/>
                  <a:ea typeface="方正黑体简体" panose="02010601030101010101" pitchFamily="2" charset="-122"/>
                </a:rPr>
                <a:t>04</a:t>
              </a:r>
            </a:p>
          </p:txBody>
        </p:sp>
        <p:sp>
          <p:nvSpPr>
            <p:cNvPr id="99" name="TextBox 23"/>
            <p:cNvSpPr txBox="1"/>
            <p:nvPr>
              <p:custDataLst>
                <p:tags r:id="rId6"/>
              </p:custDataLst>
            </p:nvPr>
          </p:nvSpPr>
          <p:spPr>
            <a:xfrm>
              <a:off x="2066367" y="5693126"/>
              <a:ext cx="3962574" cy="442856"/>
            </a:xfrm>
            <a:prstGeom prst="rect">
              <a:avLst/>
            </a:prstGeom>
            <a:noFill/>
          </p:spPr>
          <p:txBody>
            <a:bodyPr wrap="none" lIns="480000" tIns="0" rIns="0" bIns="0" anchor="b" anchorCtr="0">
              <a:normAutofit/>
            </a:bodyPr>
            <a:lstStyle/>
            <a:p>
              <a:r>
                <a:rPr lang="zh-CN" altLang="en-US" sz="2665">
                  <a:solidFill>
                    <a:schemeClr val="tx1">
                      <a:lumMod val="75000"/>
                      <a:lumOff val="25000"/>
                    </a:schemeClr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拓展阅读</a:t>
              </a:r>
              <a:endParaRPr lang="zh-CN" altLang="en-US" sz="2665" dirty="0">
                <a:solidFill>
                  <a:schemeClr val="tx1">
                    <a:lumMod val="75000"/>
                    <a:lumOff val="25000"/>
                  </a:schemeClr>
                </a:solidFill>
                <a:latin typeface="方正黑体简体" panose="02010601030101010101" pitchFamily="2" charset="-122"/>
                <a:ea typeface="方正黑体简体" panose="02010601030101010101" pitchFamily="2" charset="-122"/>
              </a:endParaRPr>
            </a:p>
          </p:txBody>
        </p:sp>
      </p:grpSp>
      <p:grpSp>
        <p:nvGrpSpPr>
          <p:cNvPr id="101" name="Group 9"/>
          <p:cNvGrpSpPr/>
          <p:nvPr/>
        </p:nvGrpSpPr>
        <p:grpSpPr>
          <a:xfrm>
            <a:off x="391262" y="4785017"/>
            <a:ext cx="5190430" cy="1925611"/>
            <a:chOff x="-1478936" y="2498602"/>
            <a:chExt cx="6059079" cy="2247874"/>
          </a:xfrm>
        </p:grpSpPr>
        <p:sp>
          <p:nvSpPr>
            <p:cNvPr id="102" name="TextBox 7"/>
            <p:cNvSpPr txBox="1"/>
            <p:nvPr/>
          </p:nvSpPr>
          <p:spPr>
            <a:xfrm>
              <a:off x="1943568" y="2498602"/>
              <a:ext cx="2636575" cy="2247874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  目   录</a:t>
              </a:r>
            </a:p>
          </p:txBody>
        </p:sp>
        <p:sp>
          <p:nvSpPr>
            <p:cNvPr id="103" name="TextBox 8"/>
            <p:cNvSpPr txBox="1"/>
            <p:nvPr/>
          </p:nvSpPr>
          <p:spPr>
            <a:xfrm>
              <a:off x="-1478936" y="3246091"/>
              <a:ext cx="2217541" cy="568773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ctr"/>
              <a:r>
                <a:rPr lang="en-US" altLang="zh-CN" sz="213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CONTENTS</a:t>
              </a:r>
            </a:p>
          </p:txBody>
        </p:sp>
      </p:grpSp>
      <p:cxnSp>
        <p:nvCxnSpPr>
          <p:cNvPr id="104" name="直接连接符 103"/>
          <p:cNvCxnSpPr/>
          <p:nvPr/>
        </p:nvCxnSpPr>
        <p:spPr>
          <a:xfrm>
            <a:off x="5332811" y="3689648"/>
            <a:ext cx="1728192" cy="3168352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图片 66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74471"/>
            <a:ext cx="5634402" cy="2862324"/>
          </a:xfrm>
          <a:prstGeom prst="rect">
            <a:avLst/>
          </a:prstGeom>
        </p:spPr>
      </p:pic>
      <p:sp>
        <p:nvSpPr>
          <p:cNvPr id="4" name="等腰三角形 3"/>
          <p:cNvSpPr/>
          <p:nvPr/>
        </p:nvSpPr>
        <p:spPr>
          <a:xfrm rot="10800000">
            <a:off x="4051063" y="1826249"/>
            <a:ext cx="1591383" cy="2908243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等腰三角形 67"/>
          <p:cNvSpPr/>
          <p:nvPr/>
        </p:nvSpPr>
        <p:spPr>
          <a:xfrm rot="10800000">
            <a:off x="5070475" y="3696303"/>
            <a:ext cx="573564" cy="1046099"/>
          </a:xfrm>
          <a:prstGeom prst="triangle">
            <a:avLst>
              <a:gd name="adj" fmla="val 0"/>
            </a:avLst>
          </a:prstGeom>
          <a:solidFill>
            <a:srgbClr val="0163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5" name="直接连接符 104"/>
          <p:cNvCxnSpPr/>
          <p:nvPr/>
        </p:nvCxnSpPr>
        <p:spPr>
          <a:xfrm>
            <a:off x="2724207" y="0"/>
            <a:ext cx="1728192" cy="3168352"/>
          </a:xfrm>
          <a:prstGeom prst="line">
            <a:avLst/>
          </a:prstGeom>
          <a:ln w="19050">
            <a:solidFill>
              <a:srgbClr val="0163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3578" y="1856853"/>
            <a:ext cx="7831800" cy="3945708"/>
            <a:chOff x="0" y="1826249"/>
            <a:chExt cx="5642446" cy="2910546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874471"/>
              <a:ext cx="5634402" cy="2862324"/>
            </a:xfrm>
            <a:prstGeom prst="rect">
              <a:avLst/>
            </a:prstGeom>
          </p:spPr>
        </p:pic>
        <p:sp>
          <p:nvSpPr>
            <p:cNvPr id="15" name="等腰三角形 14"/>
            <p:cNvSpPr/>
            <p:nvPr/>
          </p:nvSpPr>
          <p:spPr>
            <a:xfrm rot="10800000">
              <a:off x="4051063" y="1826249"/>
              <a:ext cx="1591383" cy="2908243"/>
            </a:xfrm>
            <a:prstGeom prst="triangle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矩形 1"/>
          <p:cNvSpPr/>
          <p:nvPr/>
        </p:nvSpPr>
        <p:spPr>
          <a:xfrm>
            <a:off x="2773322" y="2468330"/>
            <a:ext cx="7152117" cy="2784309"/>
          </a:xfrm>
          <a:custGeom>
            <a:avLst/>
            <a:gdLst>
              <a:gd name="connsiteX0" fmla="*/ 0 w 4211960"/>
              <a:gd name="connsiteY0" fmla="*/ 0 h 2088232"/>
              <a:gd name="connsiteX1" fmla="*/ 4211960 w 4211960"/>
              <a:gd name="connsiteY1" fmla="*/ 0 h 2088232"/>
              <a:gd name="connsiteX2" fmla="*/ 4211960 w 4211960"/>
              <a:gd name="connsiteY2" fmla="*/ 2088232 h 2088232"/>
              <a:gd name="connsiteX3" fmla="*/ 0 w 4211960"/>
              <a:gd name="connsiteY3" fmla="*/ 2088232 h 2088232"/>
              <a:gd name="connsiteX4" fmla="*/ 0 w 4211960"/>
              <a:gd name="connsiteY4" fmla="*/ 0 h 2088232"/>
              <a:gd name="connsiteX0-1" fmla="*/ 0 w 4211960"/>
              <a:gd name="connsiteY0-2" fmla="*/ 0 h 2088232"/>
              <a:gd name="connsiteX1-3" fmla="*/ 3101133 w 4211960"/>
              <a:gd name="connsiteY1-4" fmla="*/ 0 h 2088232"/>
              <a:gd name="connsiteX2-5" fmla="*/ 4211960 w 4211960"/>
              <a:gd name="connsiteY2-6" fmla="*/ 2088232 h 2088232"/>
              <a:gd name="connsiteX3-7" fmla="*/ 0 w 4211960"/>
              <a:gd name="connsiteY3-8" fmla="*/ 2088232 h 2088232"/>
              <a:gd name="connsiteX4-9" fmla="*/ 0 w 4211960"/>
              <a:gd name="connsiteY4-10" fmla="*/ 0 h 2088232"/>
              <a:gd name="connsiteX0-11" fmla="*/ 0 w 4211960"/>
              <a:gd name="connsiteY0-12" fmla="*/ 0 h 2088232"/>
              <a:gd name="connsiteX1-13" fmla="*/ 3281963 w 4211960"/>
              <a:gd name="connsiteY1-14" fmla="*/ 0 h 2088232"/>
              <a:gd name="connsiteX2-15" fmla="*/ 4211960 w 4211960"/>
              <a:gd name="connsiteY2-16" fmla="*/ 2088232 h 2088232"/>
              <a:gd name="connsiteX3-17" fmla="*/ 0 w 4211960"/>
              <a:gd name="connsiteY3-18" fmla="*/ 2088232 h 2088232"/>
              <a:gd name="connsiteX4-19" fmla="*/ 0 w 4211960"/>
              <a:gd name="connsiteY4-20" fmla="*/ 0 h 2088232"/>
              <a:gd name="connsiteX0-21" fmla="*/ 0 w 4211960"/>
              <a:gd name="connsiteY0-22" fmla="*/ 0 h 2088232"/>
              <a:gd name="connsiteX1-23" fmla="*/ 3319192 w 4211960"/>
              <a:gd name="connsiteY1-24" fmla="*/ 0 h 2088232"/>
              <a:gd name="connsiteX2-25" fmla="*/ 4211960 w 4211960"/>
              <a:gd name="connsiteY2-26" fmla="*/ 2088232 h 2088232"/>
              <a:gd name="connsiteX3-27" fmla="*/ 0 w 4211960"/>
              <a:gd name="connsiteY3-28" fmla="*/ 2088232 h 2088232"/>
              <a:gd name="connsiteX4-29" fmla="*/ 0 w 4211960"/>
              <a:gd name="connsiteY4-30" fmla="*/ 0 h 20882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211960" h="2088232">
                <a:moveTo>
                  <a:pt x="0" y="0"/>
                </a:moveTo>
                <a:lnTo>
                  <a:pt x="3319192" y="0"/>
                </a:lnTo>
                <a:lnTo>
                  <a:pt x="4211960" y="2088232"/>
                </a:lnTo>
                <a:lnTo>
                  <a:pt x="0" y="2088232"/>
                </a:lnTo>
                <a:lnTo>
                  <a:pt x="0" y="0"/>
                </a:lnTo>
                <a:close/>
              </a:path>
            </a:pathLst>
          </a:custGeom>
          <a:solidFill>
            <a:srgbClr val="0163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8" name="文本框 17"/>
          <p:cNvSpPr txBox="1"/>
          <p:nvPr/>
        </p:nvSpPr>
        <p:spPr>
          <a:xfrm>
            <a:off x="1007435" y="3121821"/>
            <a:ext cx="42858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方正黑体简体" panose="02010601030101010101" pitchFamily="2" charset="-122"/>
                <a:ea typeface="方正黑体简体" panose="02010601030101010101" pitchFamily="2" charset="-122"/>
              </a:rPr>
              <a:t>基础知识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286959" y="3389379"/>
            <a:ext cx="15722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8000" dirty="0">
                <a:solidFill>
                  <a:schemeClr val="bg1"/>
                </a:solidFill>
                <a:latin typeface="Stencil Std" panose="04020904080802020404" pitchFamily="82" charset="0"/>
                <a:ea typeface="方正黑体简体" panose="02010601030101010101" pitchFamily="2" charset="-122"/>
              </a:rPr>
              <a:t>01</a:t>
            </a:r>
            <a:endParaRPr lang="zh-CN" altLang="en-US" sz="8000" dirty="0">
              <a:solidFill>
                <a:schemeClr val="bg1"/>
              </a:solidFill>
              <a:latin typeface="Stencil Std" panose="04020904080802020404" pitchFamily="82" charset="0"/>
              <a:ea typeface="方正黑体简体" panose="02010601030101010101" pitchFamily="2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8759054" y="1796819"/>
            <a:ext cx="2760644" cy="5061181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008914" y="0"/>
            <a:ext cx="1204562" cy="2180580"/>
          </a:xfrm>
          <a:prstGeom prst="line">
            <a:avLst/>
          </a:prstGeom>
          <a:ln w="19050">
            <a:solidFill>
              <a:srgbClr val="0163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m3u8</a:t>
              </a:r>
              <a:endParaRPr lang="zh-CN" altLang="en-US" sz="1865" dirty="0">
                <a:solidFill>
                  <a:schemeClr val="bg1"/>
                </a:solidFill>
                <a:latin typeface="方正黑体简体" panose="02010601030101010101" pitchFamily="2" charset="-122"/>
                <a:ea typeface="方正黑体简体" panose="02010601030101010101" pitchFamily="2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90500" y="1004570"/>
            <a:ext cx="11642090" cy="1678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400" b="1" dirty="0"/>
              <a:t>m3u8</a:t>
            </a:r>
            <a:r>
              <a:rPr lang="zh-CN" altLang="en-US" sz="2400" b="1" dirty="0"/>
              <a:t>格式介绍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m3u8</a:t>
            </a:r>
            <a:r>
              <a:rPr lang="zh-CN" altLang="en-US" dirty="0"/>
              <a:t>是一种</a:t>
            </a:r>
            <a:r>
              <a:rPr lang="zh-CN" altLang="en-US" b="1" dirty="0"/>
              <a:t>视频流媒体格式</a:t>
            </a:r>
            <a:r>
              <a:rPr lang="zh-CN" altLang="en-US" dirty="0"/>
              <a:t>，通常用于在线播放视频，广泛用于</a:t>
            </a:r>
            <a:r>
              <a:rPr lang="en-US" altLang="zh-CN" dirty="0"/>
              <a:t> HLS</a:t>
            </a:r>
            <a:r>
              <a:rPr lang="zh-CN" altLang="en-US" dirty="0"/>
              <a:t>（</a:t>
            </a:r>
            <a:r>
              <a:rPr lang="en-US" altLang="zh-CN" dirty="0"/>
              <a:t>HTTP Live Streaming</a:t>
            </a:r>
            <a:r>
              <a:rPr lang="zh-CN" altLang="en-US" dirty="0"/>
              <a:t>）流媒体协议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m3u8</a:t>
            </a:r>
            <a:r>
              <a:rPr lang="zh-CN" altLang="en-US" dirty="0"/>
              <a:t>文件本身不是一段视频，而是一个</a:t>
            </a:r>
            <a:r>
              <a:rPr lang="zh-CN" altLang="en-US" b="1" dirty="0"/>
              <a:t>索引纯文本文件</a:t>
            </a:r>
            <a:r>
              <a:rPr lang="zh-CN" altLang="en-US" dirty="0"/>
              <a:t>，通常基于</a:t>
            </a:r>
            <a:r>
              <a:rPr lang="en-US" altLang="zh-CN" dirty="0"/>
              <a:t> M3U </a:t>
            </a:r>
            <a:r>
              <a:rPr lang="zh-CN" altLang="en-US" dirty="0"/>
              <a:t>的</a:t>
            </a:r>
            <a:r>
              <a:rPr lang="en-US" altLang="zh-CN" dirty="0"/>
              <a:t> UTF-8 </a:t>
            </a:r>
            <a:r>
              <a:rPr lang="zh-CN" altLang="en-US" dirty="0"/>
              <a:t>编码扩展。打开它时会根据它的索引找到对应的音视频文件的网址</a:t>
            </a:r>
            <a:r>
              <a:rPr lang="zh-CN" altLang="en-US" b="1" dirty="0"/>
              <a:t>（以</a:t>
            </a:r>
            <a:r>
              <a:rPr lang="en-US" altLang="zh-CN" b="1" dirty="0"/>
              <a:t>ts</a:t>
            </a:r>
            <a:r>
              <a:rPr lang="zh-CN" altLang="en-US" b="1" dirty="0"/>
              <a:t>格式保存）</a:t>
            </a:r>
            <a:r>
              <a:rPr lang="zh-CN" altLang="en-US" dirty="0"/>
              <a:t>进行在线播放。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m3u8</a:t>
            </a:r>
            <a:r>
              <a:rPr lang="zh-CN" altLang="en-US" b="1" dirty="0"/>
              <a:t>文件的典型结构如下：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" y="2840990"/>
            <a:ext cx="4311650" cy="32131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421630" y="2791778"/>
            <a:ext cx="5080000" cy="82994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600"/>
              <a:t>通俗来说，</a:t>
            </a:r>
            <a:r>
              <a:rPr lang="zh-CN" sz="1600"/>
              <a:t>网页完整</a:t>
            </a:r>
            <a:r>
              <a:rPr lang="zh-CN" altLang="en-US" sz="1600"/>
              <a:t>视频被分割为若干个子视频分段，每个子片段以</a:t>
            </a:r>
            <a:r>
              <a:rPr lang="en-US" altLang="zh-CN" sz="1600"/>
              <a:t>ts</a:t>
            </a:r>
            <a:r>
              <a:rPr lang="zh-CN" altLang="en-US" sz="1600"/>
              <a:t>格式保存，</a:t>
            </a:r>
            <a:r>
              <a:rPr lang="en-US" altLang="zh-CN" sz="1600"/>
              <a:t>m3u8</a:t>
            </a:r>
            <a:r>
              <a:rPr lang="zh-CN" altLang="en-US" sz="1600"/>
              <a:t>文件负责记录所有子片段对应</a:t>
            </a:r>
            <a:r>
              <a:rPr lang="en-US" altLang="zh-CN" sz="1600"/>
              <a:t>ts</a:t>
            </a:r>
            <a:r>
              <a:rPr lang="zh-CN" altLang="en-US" sz="1600"/>
              <a:t>格式文件的名称以及对应时间段。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932815" y="2795905"/>
            <a:ext cx="6096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olidFill>
                  <a:srgbClr val="FF0000"/>
                </a:solidFill>
                <a:sym typeface="+mn-ea"/>
              </a:rPr>
              <a:t>文件标识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602105" y="3859530"/>
            <a:ext cx="6096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olidFill>
                  <a:srgbClr val="FF0000"/>
                </a:solidFill>
                <a:sym typeface="+mn-ea"/>
              </a:rPr>
              <a:t>分片时长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602105" y="2961005"/>
            <a:ext cx="6096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olidFill>
                  <a:srgbClr val="FF0000"/>
                </a:solidFill>
                <a:sym typeface="+mn-ea"/>
              </a:rPr>
              <a:t>协议版本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251710" y="3346450"/>
            <a:ext cx="6096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olidFill>
                  <a:srgbClr val="FF0000"/>
                </a:solidFill>
                <a:sym typeface="+mn-ea"/>
              </a:rPr>
              <a:t>最大分片时长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246245" y="4037965"/>
            <a:ext cx="6096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olidFill>
                  <a:srgbClr val="FF0000"/>
                </a:solidFill>
                <a:sym typeface="+mn-ea"/>
              </a:rPr>
              <a:t>分片对应时间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502150" y="4232910"/>
            <a:ext cx="6096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olidFill>
                  <a:srgbClr val="FF0000"/>
                </a:solidFill>
                <a:sym typeface="+mn-ea"/>
              </a:rPr>
              <a:t>分片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URL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ts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文件定位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90500" y="1004570"/>
            <a:ext cx="11642090" cy="765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400" b="1" dirty="0"/>
              <a:t>ts</a:t>
            </a:r>
            <a:r>
              <a:rPr lang="zh-CN" altLang="en-US" sz="2400" b="1" dirty="0"/>
              <a:t>文件</a:t>
            </a:r>
            <a:r>
              <a:rPr lang="en-US" altLang="zh-CN" sz="2400" b="1" dirty="0"/>
              <a:t>URL</a:t>
            </a:r>
            <a:r>
              <a:rPr lang="zh-CN" altLang="en-US" sz="2400" b="1" dirty="0"/>
              <a:t>拼接规则</a:t>
            </a:r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zh-CN" dirty="0"/>
              <a:t>将</a:t>
            </a:r>
            <a:r>
              <a:rPr lang="en-US" altLang="zh-CN" dirty="0"/>
              <a:t>m3u8</a:t>
            </a:r>
            <a:r>
              <a:rPr lang="zh-CN" altLang="en-US" dirty="0"/>
              <a:t>的</a:t>
            </a:r>
            <a:r>
              <a:rPr lang="zh-CN" altLang="en-US" b="1" dirty="0"/>
              <a:t>基地址</a:t>
            </a:r>
            <a:r>
              <a:rPr lang="zh-CN" altLang="en-US" dirty="0"/>
              <a:t>与</a:t>
            </a:r>
            <a:r>
              <a:rPr lang="zh-CN" altLang="en-US" b="1" dirty="0"/>
              <a:t>每个</a:t>
            </a:r>
            <a:r>
              <a:rPr lang="en-US" altLang="zh-CN" b="1" dirty="0"/>
              <a:t>ts</a:t>
            </a:r>
            <a:r>
              <a:rPr lang="zh-CN" altLang="en-US" b="1" dirty="0"/>
              <a:t>片段自带参数</a:t>
            </a:r>
            <a:r>
              <a:rPr lang="zh-CN" altLang="en-US" dirty="0"/>
              <a:t>进行拼接，例如：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47015" y="2240915"/>
            <a:ext cx="789940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200" b="0" i="0">
                <a:solidFill>
                  <a:schemeClr val="tx1"/>
                </a:solidFill>
                <a:latin typeface="Courier New" panose="02070309020205020404"/>
                <a:ea typeface="Courier New" panose="02070309020205020404"/>
              </a:rPr>
              <a:t>https://xigua-cdn.haima-zuida.com/20210219/19948_fcbc225a/1000k/hls/index.m3u8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71780" y="17881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1. </a:t>
            </a:r>
            <a:r>
              <a:rPr lang="zh-CN" altLang="en-US"/>
              <a:t>某</a:t>
            </a:r>
            <a:r>
              <a:rPr lang="en-US" altLang="zh-CN"/>
              <a:t>m3u8</a:t>
            </a:r>
            <a:r>
              <a:rPr lang="zh-CN" altLang="en-US"/>
              <a:t>的</a:t>
            </a:r>
            <a:r>
              <a:rPr lang="en-US" altLang="zh-CN"/>
              <a:t>url</a:t>
            </a:r>
            <a:r>
              <a:rPr lang="zh-CN" altLang="en-US"/>
              <a:t>为：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15595" y="2785110"/>
            <a:ext cx="7831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2. </a:t>
            </a:r>
            <a:r>
              <a:rPr lang="zh-CN" altLang="en-US"/>
              <a:t>它的基地址为：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315595" y="3153410"/>
            <a:ext cx="789940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200" b="0" i="0">
                <a:solidFill>
                  <a:schemeClr val="tx1"/>
                </a:solidFill>
                <a:latin typeface="Courier New" panose="02070309020205020404"/>
                <a:ea typeface="Courier New" panose="02070309020205020404"/>
              </a:rPr>
              <a:t>https://xigua-cdn.haima-zuida.com/20210219/19948_fcbc225a/1000k/hls</a:t>
            </a:r>
          </a:p>
        </p:txBody>
      </p:sp>
      <p:sp>
        <p:nvSpPr>
          <p:cNvPr id="17" name="矩形 16"/>
          <p:cNvSpPr/>
          <p:nvPr/>
        </p:nvSpPr>
        <p:spPr>
          <a:xfrm>
            <a:off x="271780" y="2216150"/>
            <a:ext cx="6269355" cy="278765"/>
          </a:xfrm>
          <a:prstGeom prst="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315595" y="4116705"/>
            <a:ext cx="943229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200" b="0" i="0">
                <a:solidFill>
                  <a:schemeClr val="tx1"/>
                </a:solidFill>
                <a:latin typeface="Courier New" panose="02070309020205020404"/>
                <a:ea typeface="Courier New" panose="02070309020205020404"/>
              </a:rPr>
              <a:t>https://xigua-cdn.haima-zuida.com/20210219/19948_fcbc225a/1000k/hls/075a34cccdd000000.ts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15595" y="3697605"/>
            <a:ext cx="7228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3. </a:t>
            </a:r>
            <a:r>
              <a:rPr lang="zh-CN" altLang="en-US"/>
              <a:t>与各个</a:t>
            </a:r>
            <a:r>
              <a:rPr lang="en-US" altLang="zh-CN"/>
              <a:t>ts</a:t>
            </a:r>
            <a:r>
              <a:rPr lang="zh-CN" altLang="en-US"/>
              <a:t>片段名称（如</a:t>
            </a:r>
            <a:r>
              <a:rPr lang="en-US" altLang="zh-CN" sz="1200">
                <a:latin typeface="Courier New" panose="02070309020205020404"/>
                <a:ea typeface="Courier New" panose="02070309020205020404"/>
                <a:sym typeface="+mn-ea"/>
              </a:rPr>
              <a:t>075a34cccdd000000.ts</a:t>
            </a:r>
            <a:r>
              <a:rPr lang="zh-CN" altLang="en-US"/>
              <a:t>）拼接得到：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315595" y="4714240"/>
            <a:ext cx="8632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4. </a:t>
            </a:r>
            <a:r>
              <a:rPr lang="zh-CN" altLang="en-US"/>
              <a:t>基于</a:t>
            </a:r>
            <a:r>
              <a:rPr lang="en-US" altLang="zh-CN"/>
              <a:t>ts</a:t>
            </a:r>
            <a:r>
              <a:rPr lang="zh-CN" altLang="en-US"/>
              <a:t>文件对应</a:t>
            </a:r>
            <a:r>
              <a:rPr lang="en-US" altLang="zh-CN"/>
              <a:t>url</a:t>
            </a:r>
            <a:r>
              <a:rPr lang="zh-CN" altLang="en-US"/>
              <a:t>，下载所有的</a:t>
            </a:r>
            <a:r>
              <a:rPr lang="en-US" altLang="zh-CN"/>
              <a:t>ts</a:t>
            </a:r>
            <a:r>
              <a:rPr lang="zh-CN" altLang="en-US"/>
              <a:t>片段，将他们拼接整合即可得到完整视频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3578" y="1856853"/>
            <a:ext cx="7831800" cy="3945708"/>
            <a:chOff x="0" y="1826249"/>
            <a:chExt cx="5642446" cy="2910546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874471"/>
              <a:ext cx="5634402" cy="2862324"/>
            </a:xfrm>
            <a:prstGeom prst="rect">
              <a:avLst/>
            </a:prstGeom>
          </p:spPr>
        </p:pic>
        <p:sp>
          <p:nvSpPr>
            <p:cNvPr id="15" name="等腰三角形 14"/>
            <p:cNvSpPr/>
            <p:nvPr/>
          </p:nvSpPr>
          <p:spPr>
            <a:xfrm rot="10800000">
              <a:off x="4051063" y="1826249"/>
              <a:ext cx="1591383" cy="2908243"/>
            </a:xfrm>
            <a:prstGeom prst="triangle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矩形 1"/>
          <p:cNvSpPr/>
          <p:nvPr/>
        </p:nvSpPr>
        <p:spPr>
          <a:xfrm>
            <a:off x="2773322" y="2468330"/>
            <a:ext cx="7152117" cy="2784309"/>
          </a:xfrm>
          <a:custGeom>
            <a:avLst/>
            <a:gdLst>
              <a:gd name="connsiteX0" fmla="*/ 0 w 4211960"/>
              <a:gd name="connsiteY0" fmla="*/ 0 h 2088232"/>
              <a:gd name="connsiteX1" fmla="*/ 4211960 w 4211960"/>
              <a:gd name="connsiteY1" fmla="*/ 0 h 2088232"/>
              <a:gd name="connsiteX2" fmla="*/ 4211960 w 4211960"/>
              <a:gd name="connsiteY2" fmla="*/ 2088232 h 2088232"/>
              <a:gd name="connsiteX3" fmla="*/ 0 w 4211960"/>
              <a:gd name="connsiteY3" fmla="*/ 2088232 h 2088232"/>
              <a:gd name="connsiteX4" fmla="*/ 0 w 4211960"/>
              <a:gd name="connsiteY4" fmla="*/ 0 h 2088232"/>
              <a:gd name="connsiteX0-1" fmla="*/ 0 w 4211960"/>
              <a:gd name="connsiteY0-2" fmla="*/ 0 h 2088232"/>
              <a:gd name="connsiteX1-3" fmla="*/ 3101133 w 4211960"/>
              <a:gd name="connsiteY1-4" fmla="*/ 0 h 2088232"/>
              <a:gd name="connsiteX2-5" fmla="*/ 4211960 w 4211960"/>
              <a:gd name="connsiteY2-6" fmla="*/ 2088232 h 2088232"/>
              <a:gd name="connsiteX3-7" fmla="*/ 0 w 4211960"/>
              <a:gd name="connsiteY3-8" fmla="*/ 2088232 h 2088232"/>
              <a:gd name="connsiteX4-9" fmla="*/ 0 w 4211960"/>
              <a:gd name="connsiteY4-10" fmla="*/ 0 h 2088232"/>
              <a:gd name="connsiteX0-11" fmla="*/ 0 w 4211960"/>
              <a:gd name="connsiteY0-12" fmla="*/ 0 h 2088232"/>
              <a:gd name="connsiteX1-13" fmla="*/ 3281963 w 4211960"/>
              <a:gd name="connsiteY1-14" fmla="*/ 0 h 2088232"/>
              <a:gd name="connsiteX2-15" fmla="*/ 4211960 w 4211960"/>
              <a:gd name="connsiteY2-16" fmla="*/ 2088232 h 2088232"/>
              <a:gd name="connsiteX3-17" fmla="*/ 0 w 4211960"/>
              <a:gd name="connsiteY3-18" fmla="*/ 2088232 h 2088232"/>
              <a:gd name="connsiteX4-19" fmla="*/ 0 w 4211960"/>
              <a:gd name="connsiteY4-20" fmla="*/ 0 h 2088232"/>
              <a:gd name="connsiteX0-21" fmla="*/ 0 w 4211960"/>
              <a:gd name="connsiteY0-22" fmla="*/ 0 h 2088232"/>
              <a:gd name="connsiteX1-23" fmla="*/ 3319192 w 4211960"/>
              <a:gd name="connsiteY1-24" fmla="*/ 0 h 2088232"/>
              <a:gd name="connsiteX2-25" fmla="*/ 4211960 w 4211960"/>
              <a:gd name="connsiteY2-26" fmla="*/ 2088232 h 2088232"/>
              <a:gd name="connsiteX3-27" fmla="*/ 0 w 4211960"/>
              <a:gd name="connsiteY3-28" fmla="*/ 2088232 h 2088232"/>
              <a:gd name="connsiteX4-29" fmla="*/ 0 w 4211960"/>
              <a:gd name="connsiteY4-30" fmla="*/ 0 h 20882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211960" h="2088232">
                <a:moveTo>
                  <a:pt x="0" y="0"/>
                </a:moveTo>
                <a:lnTo>
                  <a:pt x="3319192" y="0"/>
                </a:lnTo>
                <a:lnTo>
                  <a:pt x="4211960" y="2088232"/>
                </a:lnTo>
                <a:lnTo>
                  <a:pt x="0" y="2088232"/>
                </a:lnTo>
                <a:lnTo>
                  <a:pt x="0" y="0"/>
                </a:lnTo>
                <a:close/>
              </a:path>
            </a:pathLst>
          </a:custGeom>
          <a:solidFill>
            <a:srgbClr val="0163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8" name="文本框 17"/>
          <p:cNvSpPr txBox="1"/>
          <p:nvPr/>
        </p:nvSpPr>
        <p:spPr>
          <a:xfrm>
            <a:off x="1007435" y="3121821"/>
            <a:ext cx="428582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方正黑体简体" panose="02010601030101010101" pitchFamily="2" charset="-122"/>
                <a:ea typeface="方正黑体简体" panose="02010601030101010101" pitchFamily="2" charset="-122"/>
              </a:rPr>
              <a:t>学习目标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286959" y="3389379"/>
            <a:ext cx="1572251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8000" dirty="0">
                <a:solidFill>
                  <a:schemeClr val="bg1"/>
                </a:solidFill>
                <a:latin typeface="Stencil Std" panose="04020904080802020404" pitchFamily="82" charset="0"/>
                <a:ea typeface="方正黑体简体" panose="02010601030101010101" pitchFamily="2" charset="-122"/>
              </a:rPr>
              <a:t>02</a:t>
            </a:r>
            <a:endParaRPr lang="zh-CN" altLang="en-US" sz="8000" dirty="0">
              <a:solidFill>
                <a:schemeClr val="bg1"/>
              </a:solidFill>
              <a:latin typeface="Stencil Std" panose="04020904080802020404" pitchFamily="82" charset="0"/>
              <a:ea typeface="方正黑体简体" panose="02010601030101010101" pitchFamily="2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8759054" y="1796819"/>
            <a:ext cx="2760644" cy="5061181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008914" y="0"/>
            <a:ext cx="1204562" cy="2180580"/>
          </a:xfrm>
          <a:prstGeom prst="line">
            <a:avLst/>
          </a:prstGeom>
          <a:ln w="19050">
            <a:solidFill>
              <a:srgbClr val="0163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sz="1865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课题目标</a:t>
              </a:r>
              <a:endParaRPr lang="zh-CN" sz="1865" dirty="0">
                <a:solidFill>
                  <a:schemeClr val="bg1"/>
                </a:solidFill>
                <a:latin typeface="方正黑体简体" panose="02010601030101010101" pitchFamily="2" charset="-122"/>
                <a:ea typeface="方正黑体简体" panose="02010601030101010101" pitchFamily="2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87383" y="1003124"/>
            <a:ext cx="6740433" cy="1045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400" b="1" kern="100" dirty="0">
                <a:latin typeface="+mn-ea"/>
                <a:cs typeface="Times New Roman" panose="02020603050405020304" pitchFamily="18" charset="0"/>
              </a:rPr>
              <a:t>m3u8</a:t>
            </a:r>
            <a:r>
              <a:rPr lang="zh-CN" altLang="en-US" sz="2400" b="1" kern="100" dirty="0">
                <a:latin typeface="+mn-ea"/>
                <a:cs typeface="Times New Roman" panose="02020603050405020304" pitchFamily="18" charset="0"/>
              </a:rPr>
              <a:t>流媒体格式数据获取实验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altLang="zh-CN" sz="2000" dirty="0">
              <a:latin typeface="+mn-ea"/>
            </a:endParaRPr>
          </a:p>
          <a:p>
            <a:pPr lvl="1" indent="0">
              <a:buFont typeface="Wingdings" panose="05000000000000000000" pitchFamily="2" charset="2"/>
              <a:buNone/>
            </a:pPr>
            <a:endParaRPr lang="zh-CN" altLang="en-US" dirty="0">
              <a:latin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5120" y="1614170"/>
            <a:ext cx="6096000" cy="1614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effectLst/>
                <a:latin typeface="Verdana" panose="020B0604030504040204" pitchFamily="34" charset="0"/>
                <a:sym typeface="+mn-ea"/>
              </a:rPr>
              <a:t>具体步骤：</a:t>
            </a:r>
            <a:endParaRPr lang="en-US" altLang="zh-CN" dirty="0">
              <a:solidFill>
                <a:srgbClr val="000000"/>
              </a:solidFill>
              <a:effectLst/>
              <a:latin typeface="Verdana" panose="020B0604030504040204" pitchFamily="3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effectLst/>
                <a:latin typeface="Verdana" panose="020B0604030504040204" pitchFamily="34" charset="0"/>
                <a:sym typeface="+mn-ea"/>
              </a:rPr>
              <a:t>1. </a:t>
            </a:r>
            <a:r>
              <a:rPr lang="zh-CN" altLang="en-US" dirty="0">
                <a:solidFill>
                  <a:srgbClr val="000000"/>
                </a:solidFill>
                <a:effectLst/>
                <a:latin typeface="Verdana" panose="020B0604030504040204" pitchFamily="34" charset="0"/>
                <a:sym typeface="+mn-ea"/>
              </a:rPr>
              <a:t>分析视频网页，找到并下载其对应的</a:t>
            </a:r>
            <a:r>
              <a:rPr lang="en-US" altLang="zh-CN" dirty="0">
                <a:solidFill>
                  <a:srgbClr val="000000"/>
                </a:solidFill>
                <a:effectLst/>
                <a:latin typeface="Verdana" panose="020B0604030504040204" pitchFamily="34" charset="0"/>
                <a:sym typeface="+mn-ea"/>
              </a:rPr>
              <a:t>m3u8</a:t>
            </a:r>
            <a:r>
              <a:rPr lang="zh-CN" altLang="en-US" dirty="0">
                <a:solidFill>
                  <a:srgbClr val="000000"/>
                </a:solidFill>
                <a:effectLst/>
                <a:latin typeface="Verdana" panose="020B0604030504040204" pitchFamily="34" charset="0"/>
                <a:sym typeface="+mn-ea"/>
              </a:rPr>
              <a:t>文件</a:t>
            </a:r>
            <a:endParaRPr lang="en-US" altLang="zh-CN" dirty="0">
              <a:solidFill>
                <a:srgbClr val="000000"/>
              </a:solidFill>
              <a:effectLst/>
              <a:latin typeface="Verdana" panose="020B0604030504040204" pitchFamily="3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effectLst/>
                <a:latin typeface="Verdana" panose="020B0604030504040204" pitchFamily="34" charset="0"/>
                <a:sym typeface="+mn-ea"/>
              </a:rPr>
              <a:t>2. </a:t>
            </a:r>
            <a:r>
              <a:rPr lang="zh-CN" altLang="en-US" dirty="0">
                <a:solidFill>
                  <a:srgbClr val="000000"/>
                </a:solidFill>
                <a:effectLst/>
                <a:latin typeface="Verdana" panose="020B0604030504040204" pitchFamily="34" charset="0"/>
                <a:sym typeface="+mn-ea"/>
              </a:rPr>
              <a:t>解析</a:t>
            </a:r>
            <a:r>
              <a:rPr lang="en-US" altLang="zh-CN" dirty="0">
                <a:solidFill>
                  <a:srgbClr val="000000"/>
                </a:solidFill>
                <a:effectLst/>
                <a:latin typeface="Verdana" panose="020B0604030504040204" pitchFamily="34" charset="0"/>
                <a:sym typeface="+mn-ea"/>
              </a:rPr>
              <a:t>m3u8</a:t>
            </a:r>
            <a:r>
              <a:rPr lang="zh-CN" altLang="en-US" dirty="0">
                <a:solidFill>
                  <a:srgbClr val="000000"/>
                </a:solidFill>
                <a:effectLst/>
                <a:latin typeface="Verdana" panose="020B0604030504040204" pitchFamily="34" charset="0"/>
                <a:sym typeface="+mn-ea"/>
              </a:rPr>
              <a:t>文件，下载其索引的全部</a:t>
            </a:r>
            <a:r>
              <a:rPr lang="en-US" altLang="zh-CN" dirty="0">
                <a:solidFill>
                  <a:srgbClr val="000000"/>
                </a:solidFill>
                <a:effectLst/>
                <a:latin typeface="Verdana" panose="020B0604030504040204" pitchFamily="34" charset="0"/>
                <a:sym typeface="+mn-ea"/>
              </a:rPr>
              <a:t>ts</a:t>
            </a:r>
            <a:r>
              <a:rPr lang="zh-CN" altLang="en-US" dirty="0">
                <a:solidFill>
                  <a:srgbClr val="000000"/>
                </a:solidFill>
                <a:effectLst/>
                <a:latin typeface="Verdana" panose="020B0604030504040204" pitchFamily="34" charset="0"/>
                <a:sym typeface="+mn-ea"/>
              </a:rPr>
              <a:t>片段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olidFill>
                  <a:srgbClr val="000000"/>
                </a:solidFill>
                <a:latin typeface="Verdana" panose="020B0604030504040204" pitchFamily="34" charset="0"/>
                <a:sym typeface="+mn-ea"/>
              </a:rPr>
              <a:t>3. </a:t>
            </a:r>
            <a:r>
              <a:rPr lang="zh-CN" altLang="en-US" dirty="0">
                <a:solidFill>
                  <a:srgbClr val="000000"/>
                </a:solidFill>
                <a:latin typeface="Verdana" panose="020B0604030504040204" pitchFamily="34" charset="0"/>
                <a:sym typeface="+mn-ea"/>
              </a:rPr>
              <a:t>合并所有</a:t>
            </a:r>
            <a:r>
              <a:rPr lang="en-US" altLang="zh-CN" dirty="0">
                <a:solidFill>
                  <a:srgbClr val="000000"/>
                </a:solidFill>
                <a:latin typeface="Verdana" panose="020B0604030504040204" pitchFamily="34" charset="0"/>
                <a:sym typeface="+mn-ea"/>
              </a:rPr>
              <a:t>ts</a:t>
            </a:r>
            <a:r>
              <a:rPr lang="zh-CN" altLang="en-US" dirty="0">
                <a:solidFill>
                  <a:srgbClr val="000000"/>
                </a:solidFill>
                <a:latin typeface="Verdana" panose="020B0604030504040204" pitchFamily="34" charset="0"/>
                <a:sym typeface="+mn-ea"/>
              </a:rPr>
              <a:t>片段，并转换为</a:t>
            </a:r>
            <a:r>
              <a:rPr lang="en-US" altLang="zh-CN" dirty="0">
                <a:solidFill>
                  <a:srgbClr val="000000"/>
                </a:solidFill>
                <a:latin typeface="Verdana" panose="020B0604030504040204" pitchFamily="34" charset="0"/>
                <a:sym typeface="+mn-ea"/>
              </a:rPr>
              <a:t>mp4</a:t>
            </a:r>
            <a:r>
              <a:rPr lang="zh-CN" altLang="en-US" dirty="0">
                <a:solidFill>
                  <a:srgbClr val="000000"/>
                </a:solidFill>
                <a:latin typeface="Verdana" panose="020B0604030504040204" pitchFamily="34" charset="0"/>
                <a:sym typeface="+mn-ea"/>
              </a:rPr>
              <a:t>文件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使用工具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27965" y="1307465"/>
            <a:ext cx="10436225" cy="2027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b="1" dirty="0">
                <a:sym typeface="+mn-ea"/>
              </a:rPr>
              <a:t>1. requests</a:t>
            </a:r>
            <a:r>
              <a:rPr lang="zh-CN" altLang="en-US" b="1" dirty="0">
                <a:sym typeface="+mn-ea"/>
              </a:rPr>
              <a:t>：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HTTP </a:t>
            </a:r>
            <a:r>
              <a:rPr lang="zh-CN" altLang="en-US" dirty="0">
                <a:sym typeface="+mn-ea"/>
              </a:rPr>
              <a:t>请求库，获取网页源代码或文件资源</a:t>
            </a:r>
            <a:endParaRPr lang="zh-CN" altLang="en-US" dirty="0"/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b="1" dirty="0">
                <a:sym typeface="+mn-ea"/>
              </a:rPr>
              <a:t>2. re</a:t>
            </a:r>
            <a:r>
              <a:rPr lang="zh-CN" altLang="en-US" b="1" dirty="0">
                <a:sym typeface="+mn-ea"/>
              </a:rPr>
              <a:t>（可选）：</a:t>
            </a:r>
            <a:r>
              <a:rPr lang="zh-CN" altLang="en-US" dirty="0">
                <a:sym typeface="+mn-ea"/>
              </a:rPr>
              <a:t> 正则表达式，用于匹配 </a:t>
            </a:r>
            <a:r>
              <a:rPr lang="en-US" altLang="zh-CN" dirty="0">
                <a:sym typeface="+mn-ea"/>
              </a:rPr>
              <a:t>URL </a:t>
            </a:r>
            <a:r>
              <a:rPr lang="zh-CN" altLang="en-US" dirty="0">
                <a:sym typeface="+mn-ea"/>
              </a:rPr>
              <a:t>等关键信息（也可使用</a:t>
            </a:r>
            <a:r>
              <a:rPr lang="en-US" altLang="zh-CN" dirty="0"/>
              <a:t>urljoin</a:t>
            </a:r>
            <a:r>
              <a:rPr lang="zh-CN" altLang="en-US" dirty="0"/>
              <a:t>自动化解析）</a:t>
            </a:r>
            <a:endParaRPr lang="en-US" altLang="zh-CN" dirty="0"/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b="1" dirty="0" err="1">
                <a:sym typeface="+mn-ea"/>
              </a:rPr>
              <a:t>3. BeautifulSoup</a:t>
            </a:r>
            <a:r>
              <a:rPr lang="zh-CN" altLang="en-US" b="1" dirty="0" err="1">
                <a:sym typeface="+mn-ea"/>
              </a:rPr>
              <a:t>（可选）</a:t>
            </a:r>
            <a:r>
              <a:rPr lang="zh-CN" altLang="en-US" b="1" dirty="0">
                <a:sym typeface="+mn-ea"/>
              </a:rPr>
              <a:t>：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HTML/XML </a:t>
            </a:r>
            <a:r>
              <a:rPr lang="zh-CN" altLang="en-US" dirty="0">
                <a:sym typeface="+mn-ea"/>
              </a:rPr>
              <a:t>解析库，适合提取页面中的结构化信息</a:t>
            </a: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b="1" dirty="0"/>
              <a:t>4. threading</a:t>
            </a:r>
            <a:r>
              <a:rPr lang="zh-CN" altLang="en-US" b="1" dirty="0"/>
              <a:t>（可选）：</a:t>
            </a:r>
            <a:r>
              <a:rPr lang="zh-CN" altLang="en-US" dirty="0"/>
              <a:t>多线程进程运行，适合提升视频下载速度</a:t>
            </a: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b="1" dirty="0"/>
              <a:t>5. ffmpeg</a:t>
            </a:r>
            <a:r>
              <a:rPr lang="zh-CN" altLang="en-US" b="1" dirty="0"/>
              <a:t>：</a:t>
            </a:r>
            <a:r>
              <a:rPr lang="zh-CN" altLang="en-US" dirty="0"/>
              <a:t>视频合成工具，将</a:t>
            </a:r>
            <a:r>
              <a:rPr lang="en-US" altLang="zh-CN" dirty="0"/>
              <a:t>ts</a:t>
            </a:r>
            <a:r>
              <a:rPr lang="zh-CN" altLang="en-US" dirty="0"/>
              <a:t>合并内容转化为</a:t>
            </a:r>
            <a:r>
              <a:rPr lang="en-US" altLang="zh-CN" dirty="0"/>
              <a:t>mp4</a:t>
            </a:r>
            <a:r>
              <a:rPr lang="zh-CN" altLang="en-US" dirty="0"/>
              <a:t>文件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Beautifulsoup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07670" y="837565"/>
            <a:ext cx="939355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BeautifulSoup</a:t>
            </a:r>
            <a:r>
              <a:rPr lang="zh-CN" altLang="en-US"/>
              <a:t>用于解析</a:t>
            </a:r>
            <a:r>
              <a:rPr lang="en-US" altLang="zh-CN"/>
              <a:t> HTML </a:t>
            </a:r>
            <a:r>
              <a:rPr lang="zh-CN" altLang="en-US"/>
              <a:t>或</a:t>
            </a:r>
            <a:r>
              <a:rPr lang="en-US" altLang="zh-CN"/>
              <a:t> XML </a:t>
            </a:r>
            <a:r>
              <a:rPr lang="zh-CN" altLang="en-US"/>
              <a:t>数据，得到</a:t>
            </a:r>
            <a:r>
              <a:rPr lang="zh-CN" altLang="en-US" dirty="0">
                <a:sym typeface="+mn-ea"/>
              </a:rPr>
              <a:t>页面中的结构化信息：</a:t>
            </a:r>
          </a:p>
          <a:p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soup = BeautifulSoup(html, 'html.parser') 	#</a:t>
            </a:r>
            <a:r>
              <a:rPr lang="zh-CN" altLang="en-US"/>
              <a:t>初始化解析器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r>
              <a:rPr lang="en-US" altLang="zh-CN"/>
              <a:t>BeautifulSoup</a:t>
            </a:r>
            <a:r>
              <a:rPr lang="zh-CN" altLang="en-US"/>
              <a:t>常见的操作包括查找标签、提取文本等：</a:t>
            </a:r>
          </a:p>
          <a:p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soup.</a:t>
            </a:r>
            <a:r>
              <a:rPr lang="en-US" altLang="zh-CN"/>
              <a:t>find()  	#</a:t>
            </a:r>
            <a:r>
              <a:rPr lang="zh-CN" altLang="en-US"/>
              <a:t>返回第一个匹配的标签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soup.</a:t>
            </a:r>
            <a:r>
              <a:rPr lang="en-US" altLang="zh-CN"/>
              <a:t>find_all()  	#</a:t>
            </a:r>
            <a:r>
              <a:rPr lang="zh-CN" altLang="en-US"/>
              <a:t>返回所有匹配的标签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tag = soup.find('a')  # </a:t>
            </a:r>
            <a:r>
              <a:rPr lang="zh-CN" altLang="en-US"/>
              <a:t>查找第一个</a:t>
            </a:r>
            <a:r>
              <a:rPr lang="en-US" altLang="zh-CN"/>
              <a:t>&lt;a&gt;</a:t>
            </a:r>
            <a:r>
              <a:rPr lang="zh-CN" altLang="en-US"/>
              <a:t>标签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all_text = soup.get_text()</a:t>
            </a:r>
            <a:r>
              <a:rPr lang="zh-CN" altLang="en-US"/>
              <a:t> </a:t>
            </a:r>
            <a:r>
              <a:rPr lang="en-US" altLang="zh-CN"/>
              <a:t>	#</a:t>
            </a:r>
            <a:r>
              <a:rPr lang="zh-CN" altLang="en-US"/>
              <a:t>获取页面中所有文本内容</a:t>
            </a:r>
          </a:p>
          <a:p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正则表达式</a:t>
              </a:r>
              <a:endParaRPr lang="zh-CN" altLang="en-US" sz="1865" dirty="0">
                <a:solidFill>
                  <a:schemeClr val="bg1"/>
                </a:solidFill>
                <a:latin typeface="方正黑体简体" panose="02010601030101010101" pitchFamily="2" charset="-122"/>
                <a:ea typeface="方正黑体简体" panose="02010601030101010101" pitchFamily="2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40105" y="908050"/>
            <a:ext cx="117849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正则化表达式是用于模式匹配的强力工具</a:t>
            </a:r>
          </a:p>
          <a:p>
            <a:r>
              <a:rPr lang="zh-CN" altLang="en-US"/>
              <a:t>通过特殊语法规则可以快速定位文本特征、提取结构化数据。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985" y="2098040"/>
            <a:ext cx="7264400" cy="39185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正则表达式</a:t>
              </a:r>
              <a:endParaRPr lang="zh-CN" altLang="en-US" sz="1865" dirty="0">
                <a:solidFill>
                  <a:schemeClr val="bg1"/>
                </a:solidFill>
                <a:latin typeface="方正黑体简体" panose="02010601030101010101" pitchFamily="2" charset="-122"/>
                <a:ea typeface="方正黑体简体" panose="02010601030101010101" pitchFamily="2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40105" y="908050"/>
            <a:ext cx="117849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正则化表达式是用于模式匹配的强力工具</a:t>
            </a:r>
          </a:p>
          <a:p>
            <a:r>
              <a:rPr lang="zh-CN" altLang="en-US"/>
              <a:t>通过特殊语法规则可以快速定位文本特征、提取结构化数据。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60" y="2004695"/>
            <a:ext cx="8267700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正则表达式</a:t>
              </a:r>
              <a:endParaRPr lang="zh-CN" altLang="en-US" sz="1865" dirty="0">
                <a:solidFill>
                  <a:schemeClr val="bg1"/>
                </a:solidFill>
                <a:latin typeface="方正黑体简体" panose="02010601030101010101" pitchFamily="2" charset="-122"/>
                <a:ea typeface="方正黑体简体" panose="02010601030101010101" pitchFamily="2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07670" y="1257935"/>
            <a:ext cx="1178496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正则化表达式是用于模式匹配的强力工具，通过特殊语法规则可以快速定位文本特征、提取结构化数据。</a:t>
            </a:r>
          </a:p>
          <a:p>
            <a:endParaRPr lang="zh-CN" altLang="en-US"/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/>
              <a:t>如</a:t>
            </a:r>
            <a:r>
              <a:rPr lang="zh-CN" altLang="en-US">
                <a:sym typeface="+mn-ea"/>
              </a:rPr>
              <a:t>定义密码的正则表达式：</a:t>
            </a:r>
            <a:endParaRPr lang="zh-CN" altLang="en-US"/>
          </a:p>
          <a:p>
            <a:pPr indent="457200"/>
            <a:r>
              <a:rPr lang="zh-CN" altLang="en-US">
                <a:sym typeface="+mn-ea"/>
              </a:rPr>
              <a:t>规则：英文字母开头，可以包括数字、大小写英文字母、下划线，</a:t>
            </a:r>
            <a:r>
              <a:rPr lang="en-US" altLang="zh-CN">
                <a:sym typeface="+mn-ea"/>
              </a:rPr>
              <a:t>6-16</a:t>
            </a:r>
            <a:r>
              <a:rPr lang="zh-CN" altLang="en-US">
                <a:sym typeface="+mn-ea"/>
              </a:rPr>
              <a:t>位</a:t>
            </a:r>
            <a:endParaRPr lang="zh-CN" altLang="en-US"/>
          </a:p>
          <a:p>
            <a:pPr indent="0">
              <a:buFont typeface="Arial" panose="020B0604020202020204" pitchFamily="34" charset="0"/>
              <a:buNone/>
            </a:pPr>
            <a:endParaRPr lang="en-US" altLang="zh-CN"/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>
                <a:sym typeface="+mn-ea"/>
              </a:rPr>
              <a:t>password_pattern = r'^[a-zA-Z][a-zA-Z0-9_]{5,15}$'</a:t>
            </a:r>
            <a:endParaRPr lang="en-US" altLang="zh-CN"/>
          </a:p>
          <a:p>
            <a:pPr indent="0">
              <a:buFont typeface="Arial" panose="020B0604020202020204" pitchFamily="34" charset="0"/>
              <a:buNone/>
            </a:pPr>
            <a:endParaRPr lang="en-US" altLang="zh-CN"/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/>
              <a:t>匹配</a:t>
            </a:r>
            <a:r>
              <a:rPr lang="en-US" altLang="zh-CN"/>
              <a:t>m3u8</a:t>
            </a:r>
            <a:r>
              <a:rPr lang="zh-CN" altLang="en-US"/>
              <a:t>的正则表达式：</a:t>
            </a:r>
          </a:p>
          <a:p>
            <a:pPr indent="457200">
              <a:buFont typeface="Arial" panose="020B0604020202020204" pitchFamily="34" charset="0"/>
              <a:buNone/>
            </a:pPr>
            <a:r>
              <a:rPr lang="zh-CN" altLang="en-US"/>
              <a:t>规则：</a:t>
            </a:r>
            <a:r>
              <a:rPr lang="en-US" altLang="zh-CN">
                <a:sym typeface="+mn-ea"/>
              </a:rPr>
              <a:t>http(s)</a:t>
            </a:r>
            <a:r>
              <a:rPr lang="zh-CN" altLang="en-US">
                <a:sym typeface="+mn-ea"/>
              </a:rPr>
              <a:t>开头，中间没有空格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引号等无效字符、后缀为</a:t>
            </a:r>
            <a:r>
              <a:rPr lang="en-US" altLang="zh-CN">
                <a:sym typeface="+mn-ea"/>
              </a:rPr>
              <a:t>.m3u8</a:t>
            </a:r>
            <a:endParaRPr lang="en-US" altLang="zh-CN"/>
          </a:p>
          <a:p>
            <a:pPr indent="0">
              <a:buFont typeface="Arial" panose="020B0604020202020204" pitchFamily="34" charset="0"/>
              <a:buNone/>
            </a:pPr>
            <a:endParaRPr lang="en-US" altLang="zh-CN"/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/>
              <a:t>m3u8_pattern = r'https?://[^\s"\']+?\.m3u8'   </a:t>
            </a:r>
            <a:endParaRPr lang="zh-CN" altLang="en-US"/>
          </a:p>
          <a:p>
            <a:pPr indent="0">
              <a:buFont typeface="Arial" panose="020B0604020202020204" pitchFamily="34" charset="0"/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re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87375" y="1124585"/>
            <a:ext cx="6096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>
                <a:sym typeface="+mn-ea"/>
              </a:rPr>
              <a:t>import re</a:t>
            </a:r>
            <a:endParaRPr lang="en-US" altLang="zh-CN"/>
          </a:p>
          <a:p>
            <a:pPr indent="0">
              <a:buFont typeface="Arial" panose="020B0604020202020204" pitchFamily="34" charset="0"/>
              <a:buNone/>
            </a:pPr>
            <a:endParaRPr lang="zh-CN" altLang="en-US"/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>
                <a:sym typeface="+mn-ea"/>
              </a:rPr>
              <a:t>ret = re.search(</a:t>
            </a:r>
            <a:r>
              <a:rPr lang="zh-CN" altLang="en-US">
                <a:sym typeface="+mn-ea"/>
              </a:rPr>
              <a:t>【正则表达式】</a:t>
            </a:r>
            <a:r>
              <a:rPr lang="en-US" altLang="zh-CN">
                <a:sym typeface="+mn-ea"/>
              </a:rPr>
              <a:t>,</a:t>
            </a:r>
            <a:r>
              <a:rPr lang="zh-CN" altLang="en-US">
                <a:sym typeface="+mn-ea"/>
              </a:rPr>
              <a:t>【被提取的字符串】</a:t>
            </a:r>
            <a:r>
              <a:rPr lang="en-US" altLang="zh-CN">
                <a:sym typeface="+mn-ea"/>
              </a:rPr>
              <a:t>)</a:t>
            </a:r>
            <a:endParaRPr lang="en-US" altLang="zh-CN"/>
          </a:p>
          <a:p>
            <a:pPr indent="0">
              <a:buFont typeface="Arial" panose="020B0604020202020204" pitchFamily="34" charset="0"/>
              <a:buNone/>
            </a:pPr>
            <a:endParaRPr lang="en-US" altLang="zh-CN"/>
          </a:p>
          <a:p>
            <a:pPr indent="0">
              <a:buFont typeface="Arial" panose="020B0604020202020204" pitchFamily="34" charset="0"/>
              <a:buNone/>
            </a:pPr>
            <a:endParaRPr lang="en-US" altLang="zh-CN"/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>
                <a:sym typeface="+mn-ea"/>
              </a:rPr>
              <a:t>注：扫描整个字符串并返回第一个成功的匹配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re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94665" y="1196340"/>
            <a:ext cx="1178496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/>
              <a:t>import re</a:t>
            </a:r>
          </a:p>
          <a:p>
            <a:pPr indent="0">
              <a:buFont typeface="Arial" panose="020B0604020202020204" pitchFamily="34" charset="0"/>
              <a:buNone/>
            </a:pPr>
            <a:endParaRPr lang="zh-CN" altLang="en-US"/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/>
              <a:t>ret = re.findall(</a:t>
            </a:r>
            <a:r>
              <a:rPr lang="zh-CN" altLang="en-US"/>
              <a:t>【正则表达式】</a:t>
            </a:r>
            <a:r>
              <a:rPr lang="en-US" altLang="zh-CN"/>
              <a:t>,</a:t>
            </a:r>
            <a:r>
              <a:rPr lang="zh-CN" altLang="en-US"/>
              <a:t>【被提取的字符串】</a:t>
            </a:r>
            <a:r>
              <a:rPr lang="en-US" altLang="zh-CN"/>
              <a:t>)</a:t>
            </a:r>
          </a:p>
          <a:p>
            <a:pPr indent="0">
              <a:buFont typeface="Arial" panose="020B0604020202020204" pitchFamily="34" charset="0"/>
              <a:buNone/>
            </a:pPr>
            <a:endParaRPr lang="en-US" altLang="zh-CN"/>
          </a:p>
          <a:p>
            <a:pPr indent="0">
              <a:buFont typeface="Arial" panose="020B0604020202020204" pitchFamily="34" charset="0"/>
              <a:buNone/>
            </a:pPr>
            <a:endParaRPr lang="en-US" altLang="zh-CN"/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/>
              <a:t>注：</a:t>
            </a:r>
            <a:r>
              <a:rPr lang="zh-CN" altLang="en-US">
                <a:sym typeface="+mn-ea"/>
              </a:rPr>
              <a:t>找到所有满足匹配条件的结果，并以列表的形式返回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re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94665" y="1196340"/>
            <a:ext cx="1178496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/>
              <a:t>import re</a:t>
            </a:r>
          </a:p>
          <a:p>
            <a:pPr indent="0">
              <a:buFont typeface="Arial" panose="020B0604020202020204" pitchFamily="34" charset="0"/>
              <a:buNone/>
            </a:pPr>
            <a:endParaRPr lang="en-US" altLang="zh-CN"/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/>
              <a:t>ret = re.match(</a:t>
            </a:r>
            <a:r>
              <a:rPr lang="zh-CN" altLang="en-US"/>
              <a:t>【正则表达式】</a:t>
            </a:r>
            <a:r>
              <a:rPr lang="en-US" altLang="zh-CN"/>
              <a:t>,</a:t>
            </a:r>
            <a:r>
              <a:rPr lang="zh-CN" altLang="en-US"/>
              <a:t>【被匹配的字符串】</a:t>
            </a:r>
            <a:r>
              <a:rPr lang="en-US" altLang="zh-CN"/>
              <a:t>)</a:t>
            </a:r>
          </a:p>
          <a:p>
            <a:pPr indent="0">
              <a:buFont typeface="Arial" panose="020B0604020202020204" pitchFamily="34" charset="0"/>
              <a:buNone/>
            </a:pPr>
            <a:endParaRPr lang="en-US" altLang="zh-CN"/>
          </a:p>
          <a:p>
            <a:pPr indent="0">
              <a:buFont typeface="Arial" panose="020B0604020202020204" pitchFamily="34" charset="0"/>
              <a:buNone/>
            </a:pPr>
            <a:endParaRPr lang="en-US" altLang="zh-CN"/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/>
              <a:t>注：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/>
              <a:t>如果匹配成功，返回</a:t>
            </a:r>
            <a:r>
              <a:rPr lang="en-US" altLang="zh-CN"/>
              <a:t>&lt;class 're.Match'&gt;</a:t>
            </a:r>
            <a:r>
              <a:rPr lang="zh-CN" altLang="en-US"/>
              <a:t>对象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/>
              <a:t>如果匹配不成功，返回</a:t>
            </a:r>
            <a:r>
              <a:rPr lang="en-US" altLang="zh-CN"/>
              <a:t>None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re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07670" y="1257935"/>
            <a:ext cx="117849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/>
              <a:t>import re</a:t>
            </a:r>
          </a:p>
          <a:p>
            <a:pPr indent="0">
              <a:buFont typeface="Arial" panose="020B0604020202020204" pitchFamily="34" charset="0"/>
              <a:buNone/>
            </a:pPr>
            <a:endParaRPr lang="en-US" altLang="zh-CN"/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/>
              <a:t>ret = re.sub (</a:t>
            </a:r>
            <a:r>
              <a:rPr lang="zh-CN" altLang="en-US"/>
              <a:t>【正则表达式】</a:t>
            </a:r>
            <a:r>
              <a:rPr lang="en-US" altLang="zh-CN"/>
              <a:t>,</a:t>
            </a:r>
            <a:r>
              <a:rPr lang="zh-CN" altLang="en-US"/>
              <a:t>【替换成的字符串】</a:t>
            </a:r>
            <a:r>
              <a:rPr lang="en-US" altLang="zh-CN"/>
              <a:t>,</a:t>
            </a:r>
            <a:r>
              <a:rPr lang="zh-CN" altLang="en-US"/>
              <a:t>【被匹配的字符串】</a:t>
            </a:r>
            <a:r>
              <a:rPr lang="en-US" altLang="zh-CN"/>
              <a:t>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3578" y="1856853"/>
            <a:ext cx="7831800" cy="3945708"/>
            <a:chOff x="0" y="1826249"/>
            <a:chExt cx="5642446" cy="2910546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874471"/>
              <a:ext cx="5634402" cy="2862324"/>
            </a:xfrm>
            <a:prstGeom prst="rect">
              <a:avLst/>
            </a:prstGeom>
          </p:spPr>
        </p:pic>
        <p:sp>
          <p:nvSpPr>
            <p:cNvPr id="15" name="等腰三角形 14"/>
            <p:cNvSpPr/>
            <p:nvPr/>
          </p:nvSpPr>
          <p:spPr>
            <a:xfrm rot="10800000">
              <a:off x="4051063" y="1826249"/>
              <a:ext cx="1591383" cy="2908243"/>
            </a:xfrm>
            <a:prstGeom prst="triangle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矩形 1"/>
          <p:cNvSpPr/>
          <p:nvPr/>
        </p:nvSpPr>
        <p:spPr>
          <a:xfrm>
            <a:off x="2773322" y="2468330"/>
            <a:ext cx="7152117" cy="2784309"/>
          </a:xfrm>
          <a:custGeom>
            <a:avLst/>
            <a:gdLst>
              <a:gd name="connsiteX0" fmla="*/ 0 w 4211960"/>
              <a:gd name="connsiteY0" fmla="*/ 0 h 2088232"/>
              <a:gd name="connsiteX1" fmla="*/ 4211960 w 4211960"/>
              <a:gd name="connsiteY1" fmla="*/ 0 h 2088232"/>
              <a:gd name="connsiteX2" fmla="*/ 4211960 w 4211960"/>
              <a:gd name="connsiteY2" fmla="*/ 2088232 h 2088232"/>
              <a:gd name="connsiteX3" fmla="*/ 0 w 4211960"/>
              <a:gd name="connsiteY3" fmla="*/ 2088232 h 2088232"/>
              <a:gd name="connsiteX4" fmla="*/ 0 w 4211960"/>
              <a:gd name="connsiteY4" fmla="*/ 0 h 2088232"/>
              <a:gd name="connsiteX0-1" fmla="*/ 0 w 4211960"/>
              <a:gd name="connsiteY0-2" fmla="*/ 0 h 2088232"/>
              <a:gd name="connsiteX1-3" fmla="*/ 3101133 w 4211960"/>
              <a:gd name="connsiteY1-4" fmla="*/ 0 h 2088232"/>
              <a:gd name="connsiteX2-5" fmla="*/ 4211960 w 4211960"/>
              <a:gd name="connsiteY2-6" fmla="*/ 2088232 h 2088232"/>
              <a:gd name="connsiteX3-7" fmla="*/ 0 w 4211960"/>
              <a:gd name="connsiteY3-8" fmla="*/ 2088232 h 2088232"/>
              <a:gd name="connsiteX4-9" fmla="*/ 0 w 4211960"/>
              <a:gd name="connsiteY4-10" fmla="*/ 0 h 2088232"/>
              <a:gd name="connsiteX0-11" fmla="*/ 0 w 4211960"/>
              <a:gd name="connsiteY0-12" fmla="*/ 0 h 2088232"/>
              <a:gd name="connsiteX1-13" fmla="*/ 3281963 w 4211960"/>
              <a:gd name="connsiteY1-14" fmla="*/ 0 h 2088232"/>
              <a:gd name="connsiteX2-15" fmla="*/ 4211960 w 4211960"/>
              <a:gd name="connsiteY2-16" fmla="*/ 2088232 h 2088232"/>
              <a:gd name="connsiteX3-17" fmla="*/ 0 w 4211960"/>
              <a:gd name="connsiteY3-18" fmla="*/ 2088232 h 2088232"/>
              <a:gd name="connsiteX4-19" fmla="*/ 0 w 4211960"/>
              <a:gd name="connsiteY4-20" fmla="*/ 0 h 2088232"/>
              <a:gd name="connsiteX0-21" fmla="*/ 0 w 4211960"/>
              <a:gd name="connsiteY0-22" fmla="*/ 0 h 2088232"/>
              <a:gd name="connsiteX1-23" fmla="*/ 3319192 w 4211960"/>
              <a:gd name="connsiteY1-24" fmla="*/ 0 h 2088232"/>
              <a:gd name="connsiteX2-25" fmla="*/ 4211960 w 4211960"/>
              <a:gd name="connsiteY2-26" fmla="*/ 2088232 h 2088232"/>
              <a:gd name="connsiteX3-27" fmla="*/ 0 w 4211960"/>
              <a:gd name="connsiteY3-28" fmla="*/ 2088232 h 2088232"/>
              <a:gd name="connsiteX4-29" fmla="*/ 0 w 4211960"/>
              <a:gd name="connsiteY4-30" fmla="*/ 0 h 20882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211960" h="2088232">
                <a:moveTo>
                  <a:pt x="0" y="0"/>
                </a:moveTo>
                <a:lnTo>
                  <a:pt x="3319192" y="0"/>
                </a:lnTo>
                <a:lnTo>
                  <a:pt x="4211960" y="2088232"/>
                </a:lnTo>
                <a:lnTo>
                  <a:pt x="0" y="2088232"/>
                </a:lnTo>
                <a:lnTo>
                  <a:pt x="0" y="0"/>
                </a:lnTo>
                <a:close/>
              </a:path>
            </a:pathLst>
          </a:custGeom>
          <a:solidFill>
            <a:srgbClr val="0163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8" name="文本框 17"/>
          <p:cNvSpPr txBox="1"/>
          <p:nvPr/>
        </p:nvSpPr>
        <p:spPr>
          <a:xfrm>
            <a:off x="1007435" y="3121821"/>
            <a:ext cx="428582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方正黑体简体" panose="02010601030101010101" pitchFamily="2" charset="-122"/>
                <a:ea typeface="方正黑体简体" panose="02010601030101010101" pitchFamily="2" charset="-122"/>
              </a:rPr>
              <a:t>具体步骤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286959" y="3389379"/>
            <a:ext cx="1572251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8000" dirty="0">
                <a:solidFill>
                  <a:schemeClr val="bg1"/>
                </a:solidFill>
                <a:latin typeface="Stencil Std" panose="04020904080802020404" pitchFamily="82" charset="0"/>
                <a:ea typeface="方正黑体简体" panose="02010601030101010101" pitchFamily="2" charset="-122"/>
              </a:rPr>
              <a:t>03</a:t>
            </a:r>
            <a:endParaRPr lang="zh-CN" altLang="en-US" sz="8000" dirty="0">
              <a:solidFill>
                <a:schemeClr val="bg1"/>
              </a:solidFill>
              <a:latin typeface="Stencil Std" panose="04020904080802020404" pitchFamily="82" charset="0"/>
              <a:ea typeface="方正黑体简体" panose="02010601030101010101" pitchFamily="2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8759054" y="1796819"/>
            <a:ext cx="2760644" cy="5061181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008914" y="0"/>
            <a:ext cx="1204562" cy="2180580"/>
          </a:xfrm>
          <a:prstGeom prst="line">
            <a:avLst/>
          </a:prstGeom>
          <a:ln w="19050">
            <a:solidFill>
              <a:srgbClr val="0163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分析网站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03835" y="899160"/>
            <a:ext cx="7866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以</a:t>
            </a:r>
            <a:r>
              <a:rPr lang="en-US" altLang="zh-CN"/>
              <a:t>acfun</a:t>
            </a:r>
            <a:r>
              <a:rPr lang="zh-CN" altLang="en-US"/>
              <a:t>任意视频网页为例，如：</a:t>
            </a:r>
            <a:r>
              <a:rPr lang="en-US" altLang="zh-CN"/>
              <a:t>https://www.acfun.cn/v/ac33856487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14960" y="1313180"/>
            <a:ext cx="8212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F12-&gt;</a:t>
            </a:r>
            <a:r>
              <a:rPr lang="zh-CN" altLang="en-US"/>
              <a:t>网络（</a:t>
            </a:r>
            <a:r>
              <a:rPr lang="en-US" altLang="zh-CN"/>
              <a:t>Network</a:t>
            </a:r>
            <a:r>
              <a:rPr lang="zh-CN" altLang="en-US"/>
              <a:t>）</a:t>
            </a:r>
            <a:r>
              <a:rPr lang="en-US" altLang="zh-CN"/>
              <a:t>-&gt;</a:t>
            </a:r>
            <a:r>
              <a:rPr lang="zh-CN" altLang="en-US"/>
              <a:t>搜索过滤</a:t>
            </a:r>
            <a:r>
              <a:rPr lang="en-US" altLang="zh-CN"/>
              <a:t>”m3u8” -&gt; </a:t>
            </a:r>
            <a:r>
              <a:rPr lang="zh-CN" altLang="en-US"/>
              <a:t>直接得到</a:t>
            </a:r>
            <a:r>
              <a:rPr lang="en-US" altLang="zh-CN"/>
              <a:t>m3u8</a:t>
            </a:r>
            <a:r>
              <a:rPr lang="zh-CN" altLang="en-US"/>
              <a:t>的</a:t>
            </a:r>
            <a:r>
              <a:rPr lang="en-US" altLang="zh-CN"/>
              <a:t>url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rcRect t="12578"/>
          <a:stretch>
            <a:fillRect/>
          </a:stretch>
        </p:blipFill>
        <p:spPr>
          <a:xfrm>
            <a:off x="272415" y="1677670"/>
            <a:ext cx="8785860" cy="364109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03835" y="5598160"/>
            <a:ext cx="9887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此过程也可以基于</a:t>
            </a:r>
            <a:r>
              <a:rPr lang="en-US" altLang="zh-CN"/>
              <a:t>Beautifulsoup</a:t>
            </a:r>
            <a:r>
              <a:rPr lang="zh-CN" altLang="en-US"/>
              <a:t>提取</a:t>
            </a:r>
            <a:r>
              <a:rPr lang="en-US" altLang="zh-CN"/>
              <a:t>html</a:t>
            </a:r>
            <a:r>
              <a:rPr lang="zh-CN" altLang="en-US"/>
              <a:t>结构化信息，然后通过</a:t>
            </a:r>
            <a:r>
              <a:rPr lang="en-US" altLang="zh-CN"/>
              <a:t>re</a:t>
            </a:r>
            <a:r>
              <a:rPr lang="zh-CN" altLang="en-US"/>
              <a:t>正则化匹配得到</a:t>
            </a:r>
            <a:endParaRPr lang="en-US" altLang="zh-C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下载</a:t>
              </a:r>
              <a:r>
                <a:rPr lang="en-US" alt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m3u8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文件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77495" y="1010920"/>
            <a:ext cx="9714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/>
              <a:t>伪装浏览器，访问</a:t>
            </a:r>
            <a:r>
              <a:rPr lang="en-US" altLang="zh-CN"/>
              <a:t>m3u8 url</a:t>
            </a:r>
            <a:r>
              <a:rPr lang="zh-CN" altLang="en-US"/>
              <a:t>，下载其中的内容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960" y="1598930"/>
            <a:ext cx="7905750" cy="34417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70205" y="546227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关键函数：</a:t>
            </a:r>
            <a:r>
              <a:rPr lang="en-US" altLang="zh-CN"/>
              <a:t>requests.get(url, headers)</a:t>
            </a:r>
          </a:p>
          <a:p>
            <a:r>
              <a:rPr lang="zh-CN" altLang="en-US"/>
              <a:t>向服务器发送</a:t>
            </a:r>
            <a:r>
              <a:rPr lang="en-US" altLang="zh-CN"/>
              <a:t>get</a:t>
            </a:r>
            <a:r>
              <a:rPr lang="zh-CN" altLang="en-US"/>
              <a:t>请求并接收响应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958080" y="54622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headers</a:t>
            </a:r>
            <a:r>
              <a:rPr lang="zh-CN" altLang="en-US"/>
              <a:t>用于模拟真实用户请求行为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解析</a:t>
              </a:r>
              <a:r>
                <a:rPr lang="en-US" alt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m3u8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文件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77495" y="1010920"/>
            <a:ext cx="11346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/>
              <a:t>解析</a:t>
            </a:r>
            <a:r>
              <a:rPr lang="en-US" altLang="zh-CN"/>
              <a:t>m3u8</a:t>
            </a:r>
            <a:r>
              <a:rPr lang="zh-CN" altLang="en-US"/>
              <a:t>文件中的所有包含</a:t>
            </a:r>
            <a:r>
              <a:rPr lang="en-US" altLang="zh-CN"/>
              <a:t>‘.ts’</a:t>
            </a:r>
            <a:r>
              <a:rPr lang="zh-CN" altLang="en-US"/>
              <a:t>的内容，基于</a:t>
            </a:r>
            <a:r>
              <a:rPr lang="en-US" altLang="zh-CN"/>
              <a:t>urljoin</a:t>
            </a:r>
            <a:r>
              <a:rPr lang="zh-CN" altLang="en-US"/>
              <a:t>自动拼接完整的</a:t>
            </a:r>
            <a:r>
              <a:rPr lang="en-US" altLang="zh-CN"/>
              <a:t>ts</a:t>
            </a:r>
            <a:r>
              <a:rPr lang="zh-CN" altLang="en-US"/>
              <a:t>子段对应</a:t>
            </a:r>
            <a:r>
              <a:rPr lang="en-US" altLang="zh-CN"/>
              <a:t>url</a:t>
            </a:r>
            <a:r>
              <a:rPr lang="zh-CN" altLang="en-US"/>
              <a:t>，保存在</a:t>
            </a:r>
            <a:r>
              <a:rPr lang="en-US" altLang="zh-CN"/>
              <a:t>ts_list</a:t>
            </a:r>
            <a:r>
              <a:rPr lang="zh-CN" altLang="en-US"/>
              <a:t>中。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77495" y="1679893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>
                <a:solidFill>
                  <a:srgbClr val="CC7832"/>
                </a:solidFill>
                <a:latin typeface="Arial" panose="020B0604020202020204" pitchFamily="34" charset="0"/>
                <a:ea typeface="JetBrains Mono"/>
                <a:cs typeface="Arial" panose="020B0604020202020204" pitchFamily="34" charset="0"/>
              </a:rPr>
              <a:t>from urllib.parse import urljoin</a:t>
            </a:r>
            <a:endParaRPr lang="zh-CN" altLang="en-US" sz="1600">
              <a:solidFill>
                <a:srgbClr val="CC7832"/>
              </a:solidFill>
              <a:latin typeface="Arial" panose="020B0604020202020204" pitchFamily="34" charset="0"/>
              <a:ea typeface="JetBrains Mono"/>
              <a:cs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150" y="2017395"/>
            <a:ext cx="5784850" cy="37274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批量下载</a:t>
              </a:r>
              <a:r>
                <a:rPr lang="en-US" alt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ts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文件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77495" y="1010920"/>
            <a:ext cx="9714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/>
              <a:t>多线程（可选）下载所有</a:t>
            </a:r>
            <a:r>
              <a:rPr lang="en-US" altLang="zh-CN"/>
              <a:t>ts</a:t>
            </a:r>
            <a:r>
              <a:rPr lang="zh-CN" altLang="en-US"/>
              <a:t>文件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495" y="1623695"/>
            <a:ext cx="5918200" cy="4648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合并转换为</a:t>
              </a:r>
              <a:r>
                <a:rPr lang="en-US" alt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mp4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477770" y="341630"/>
            <a:ext cx="9714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/>
              <a:t>将所有</a:t>
            </a:r>
            <a:r>
              <a:rPr lang="en-US" altLang="zh-CN"/>
              <a:t>ts</a:t>
            </a:r>
            <a:r>
              <a:rPr lang="zh-CN" altLang="en-US"/>
              <a:t>文件按时间顺序排序，然后合并，最后通过</a:t>
            </a:r>
            <a:r>
              <a:rPr lang="en-US" altLang="zh-CN"/>
              <a:t>ffmpeg</a:t>
            </a:r>
            <a:r>
              <a:rPr lang="zh-CN" altLang="en-US"/>
              <a:t>转化为</a:t>
            </a:r>
            <a:r>
              <a:rPr lang="en-US" altLang="zh-CN"/>
              <a:t>mp4</a:t>
            </a:r>
            <a:r>
              <a:rPr lang="zh-CN" altLang="en-US"/>
              <a:t>视频。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812280" y="2626360"/>
            <a:ext cx="49053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注：不同系统（</a:t>
            </a:r>
            <a:r>
              <a:rPr lang="en-US" altLang="zh-CN"/>
              <a:t>windows</a:t>
            </a:r>
            <a:r>
              <a:rPr lang="zh-CN" altLang="en-US"/>
              <a:t>与</a:t>
            </a:r>
            <a:r>
              <a:rPr lang="en-US" altLang="zh-CN"/>
              <a:t>linux</a:t>
            </a:r>
            <a:r>
              <a:rPr lang="zh-CN" altLang="en-US"/>
              <a:t>）的合并命令有差别，这里为</a:t>
            </a:r>
            <a:r>
              <a:rPr lang="en-US" altLang="zh-CN"/>
              <a:t>linux</a:t>
            </a:r>
            <a:r>
              <a:rPr lang="zh-CN" altLang="en-US"/>
              <a:t>的</a:t>
            </a:r>
            <a:r>
              <a:rPr lang="en-US" altLang="zh-CN"/>
              <a:t>concat</a:t>
            </a:r>
            <a:r>
              <a:rPr lang="zh-CN" altLang="en-US"/>
              <a:t>指令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00" y="970915"/>
            <a:ext cx="6232525" cy="53314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拓展阅读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50850" y="2020253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>
                <a:hlinkClick r:id="rId4"/>
              </a:rPr>
              <a:t>m3u8 </a:t>
            </a:r>
            <a:r>
              <a:rPr lang="zh-CN" altLang="en-US" sz="1600">
                <a:hlinkClick r:id="rId4"/>
              </a:rPr>
              <a:t>文件格式详解 </a:t>
            </a:r>
            <a:r>
              <a:rPr lang="en-US" altLang="zh-CN" sz="1600">
                <a:hlinkClick r:id="rId4"/>
              </a:rPr>
              <a:t>- </a:t>
            </a:r>
            <a:r>
              <a:rPr lang="zh-CN" altLang="en-US" sz="1600">
                <a:hlinkClick r:id="rId4"/>
              </a:rPr>
              <a:t>简书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50850" y="2447925"/>
            <a:ext cx="731837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>
                <a:hlinkClick r:id="rId5"/>
              </a:rPr>
              <a:t>某学院</a:t>
            </a:r>
            <a:r>
              <a:rPr lang="en-US" altLang="zh-CN" sz="1600">
                <a:hlinkClick r:id="rId5"/>
              </a:rPr>
              <a:t>m3u8</a:t>
            </a:r>
            <a:r>
              <a:rPr lang="zh-CN" altLang="en-US" sz="1600">
                <a:hlinkClick r:id="rId5"/>
              </a:rPr>
              <a:t>视频解密获取分析实战分享 </a:t>
            </a:r>
            <a:r>
              <a:rPr lang="en-US" altLang="zh-CN" sz="1600">
                <a:hlinkClick r:id="rId5"/>
              </a:rPr>
              <a:t>- jpSpaceX - </a:t>
            </a:r>
            <a:r>
              <a:rPr lang="zh-CN" altLang="en-US" sz="1600">
                <a:hlinkClick r:id="rId5"/>
              </a:rPr>
              <a:t>博客园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12115" y="16040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m3u8</a:t>
            </a:r>
            <a:r>
              <a:rPr lang="zh-CN" altLang="en-US"/>
              <a:t>内容拓展：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3578" y="1856853"/>
            <a:ext cx="7831800" cy="3945708"/>
            <a:chOff x="0" y="1826249"/>
            <a:chExt cx="5642446" cy="2910546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874471"/>
              <a:ext cx="5634402" cy="2862324"/>
            </a:xfrm>
            <a:prstGeom prst="rect">
              <a:avLst/>
            </a:prstGeom>
          </p:spPr>
        </p:pic>
        <p:sp>
          <p:nvSpPr>
            <p:cNvPr id="15" name="等腰三角形 14"/>
            <p:cNvSpPr/>
            <p:nvPr/>
          </p:nvSpPr>
          <p:spPr>
            <a:xfrm rot="10800000">
              <a:off x="4051063" y="1826249"/>
              <a:ext cx="1591383" cy="2908243"/>
            </a:xfrm>
            <a:prstGeom prst="triangle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矩形 1"/>
          <p:cNvSpPr/>
          <p:nvPr/>
        </p:nvSpPr>
        <p:spPr>
          <a:xfrm>
            <a:off x="2773322" y="2468330"/>
            <a:ext cx="7152117" cy="2784309"/>
          </a:xfrm>
          <a:custGeom>
            <a:avLst/>
            <a:gdLst>
              <a:gd name="connsiteX0" fmla="*/ 0 w 4211960"/>
              <a:gd name="connsiteY0" fmla="*/ 0 h 2088232"/>
              <a:gd name="connsiteX1" fmla="*/ 4211960 w 4211960"/>
              <a:gd name="connsiteY1" fmla="*/ 0 h 2088232"/>
              <a:gd name="connsiteX2" fmla="*/ 4211960 w 4211960"/>
              <a:gd name="connsiteY2" fmla="*/ 2088232 h 2088232"/>
              <a:gd name="connsiteX3" fmla="*/ 0 w 4211960"/>
              <a:gd name="connsiteY3" fmla="*/ 2088232 h 2088232"/>
              <a:gd name="connsiteX4" fmla="*/ 0 w 4211960"/>
              <a:gd name="connsiteY4" fmla="*/ 0 h 2088232"/>
              <a:gd name="connsiteX0-1" fmla="*/ 0 w 4211960"/>
              <a:gd name="connsiteY0-2" fmla="*/ 0 h 2088232"/>
              <a:gd name="connsiteX1-3" fmla="*/ 3101133 w 4211960"/>
              <a:gd name="connsiteY1-4" fmla="*/ 0 h 2088232"/>
              <a:gd name="connsiteX2-5" fmla="*/ 4211960 w 4211960"/>
              <a:gd name="connsiteY2-6" fmla="*/ 2088232 h 2088232"/>
              <a:gd name="connsiteX3-7" fmla="*/ 0 w 4211960"/>
              <a:gd name="connsiteY3-8" fmla="*/ 2088232 h 2088232"/>
              <a:gd name="connsiteX4-9" fmla="*/ 0 w 4211960"/>
              <a:gd name="connsiteY4-10" fmla="*/ 0 h 2088232"/>
              <a:gd name="connsiteX0-11" fmla="*/ 0 w 4211960"/>
              <a:gd name="connsiteY0-12" fmla="*/ 0 h 2088232"/>
              <a:gd name="connsiteX1-13" fmla="*/ 3281963 w 4211960"/>
              <a:gd name="connsiteY1-14" fmla="*/ 0 h 2088232"/>
              <a:gd name="connsiteX2-15" fmla="*/ 4211960 w 4211960"/>
              <a:gd name="connsiteY2-16" fmla="*/ 2088232 h 2088232"/>
              <a:gd name="connsiteX3-17" fmla="*/ 0 w 4211960"/>
              <a:gd name="connsiteY3-18" fmla="*/ 2088232 h 2088232"/>
              <a:gd name="connsiteX4-19" fmla="*/ 0 w 4211960"/>
              <a:gd name="connsiteY4-20" fmla="*/ 0 h 2088232"/>
              <a:gd name="connsiteX0-21" fmla="*/ 0 w 4211960"/>
              <a:gd name="connsiteY0-22" fmla="*/ 0 h 2088232"/>
              <a:gd name="connsiteX1-23" fmla="*/ 3319192 w 4211960"/>
              <a:gd name="connsiteY1-24" fmla="*/ 0 h 2088232"/>
              <a:gd name="connsiteX2-25" fmla="*/ 4211960 w 4211960"/>
              <a:gd name="connsiteY2-26" fmla="*/ 2088232 h 2088232"/>
              <a:gd name="connsiteX3-27" fmla="*/ 0 w 4211960"/>
              <a:gd name="connsiteY3-28" fmla="*/ 2088232 h 2088232"/>
              <a:gd name="connsiteX4-29" fmla="*/ 0 w 4211960"/>
              <a:gd name="connsiteY4-30" fmla="*/ 0 h 20882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211960" h="2088232">
                <a:moveTo>
                  <a:pt x="0" y="0"/>
                </a:moveTo>
                <a:lnTo>
                  <a:pt x="3319192" y="0"/>
                </a:lnTo>
                <a:lnTo>
                  <a:pt x="4211960" y="2088232"/>
                </a:lnTo>
                <a:lnTo>
                  <a:pt x="0" y="2088232"/>
                </a:lnTo>
                <a:lnTo>
                  <a:pt x="0" y="0"/>
                </a:lnTo>
                <a:close/>
              </a:path>
            </a:pathLst>
          </a:custGeom>
          <a:solidFill>
            <a:srgbClr val="0163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8" name="文本框 17"/>
          <p:cNvSpPr txBox="1"/>
          <p:nvPr/>
        </p:nvSpPr>
        <p:spPr>
          <a:xfrm>
            <a:off x="1007435" y="3121821"/>
            <a:ext cx="428582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方正黑体简体" panose="02010601030101010101" pitchFamily="2" charset="-122"/>
                <a:ea typeface="方正黑体简体" panose="02010601030101010101" pitchFamily="2" charset="-122"/>
              </a:rPr>
              <a:t>拓展练习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286959" y="3389379"/>
            <a:ext cx="1572251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8000" dirty="0">
                <a:solidFill>
                  <a:schemeClr val="bg1"/>
                </a:solidFill>
                <a:latin typeface="Stencil Std" panose="04020904080802020404" pitchFamily="82" charset="0"/>
                <a:ea typeface="方正黑体简体" panose="02010601030101010101" pitchFamily="2" charset="-122"/>
              </a:rPr>
              <a:t>04</a:t>
            </a:r>
            <a:endParaRPr lang="zh-CN" altLang="en-US" sz="8000" dirty="0">
              <a:solidFill>
                <a:schemeClr val="bg1"/>
              </a:solidFill>
              <a:latin typeface="Stencil Std" panose="04020904080802020404" pitchFamily="82" charset="0"/>
              <a:ea typeface="方正黑体简体" panose="02010601030101010101" pitchFamily="2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8759054" y="1796819"/>
            <a:ext cx="2760644" cy="5061181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008914" y="0"/>
            <a:ext cx="1204562" cy="2180580"/>
          </a:xfrm>
          <a:prstGeom prst="line">
            <a:avLst/>
          </a:prstGeom>
          <a:ln w="19050">
            <a:solidFill>
              <a:srgbClr val="0163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895" y="164465"/>
            <a:ext cx="3193415" cy="545465"/>
            <a:chOff x="-36512" y="123478"/>
            <a:chExt cx="2094071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2054"/>
              <a:ext cx="2094071" cy="283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拓展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练习</a:t>
              </a:r>
              <a:endParaRPr lang="zh-CN" sz="1865" dirty="0">
                <a:solidFill>
                  <a:schemeClr val="bg1"/>
                </a:solidFill>
                <a:latin typeface="方正黑体简体" panose="02010601030101010101" pitchFamily="2" charset="-122"/>
                <a:ea typeface="方正黑体简体" panose="02010601030101010101" pitchFamily="2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61035" y="1122045"/>
            <a:ext cx="10784205" cy="865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/>
              <a:t>1. </a:t>
            </a:r>
            <a:r>
              <a:rPr lang="zh-CN" altLang="en-US"/>
              <a:t>自行实现任一网页</a:t>
            </a:r>
            <a:r>
              <a:rPr lang="en-US"/>
              <a:t>m3u8</a:t>
            </a:r>
            <a:r>
              <a:rPr lang="zh-CN" altLang="en-US"/>
              <a:t>流数据文件的视频爬取，要求调用</a:t>
            </a:r>
            <a:r>
              <a:rPr lang="en-US" altLang="zh-CN"/>
              <a:t>beautifulsoup+re</a:t>
            </a:r>
            <a:r>
              <a:rPr lang="zh-CN" altLang="en-US"/>
              <a:t>结构化匹配</a:t>
            </a:r>
          </a:p>
          <a:p>
            <a:pPr>
              <a:lnSpc>
                <a:spcPct val="140000"/>
              </a:lnSpc>
            </a:pPr>
            <a:r>
              <a:rPr lang="en-US" altLang="zh-CN"/>
              <a:t>2. </a:t>
            </a:r>
            <a:r>
              <a:rPr lang="zh-CN" altLang="en-US"/>
              <a:t>进一步爬取经过</a:t>
            </a:r>
            <a:r>
              <a:rPr lang="zh-CN" altLang="en-US" b="1"/>
              <a:t>加密</a:t>
            </a:r>
            <a:r>
              <a:rPr lang="zh-CN" altLang="en-US"/>
              <a:t>的</a:t>
            </a:r>
            <a:r>
              <a:rPr lang="en-US" altLang="zh-CN"/>
              <a:t>m3u8</a:t>
            </a:r>
            <a:r>
              <a:rPr lang="zh-CN" altLang="en-US"/>
              <a:t>流数据视频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jcyNTc2YzlhNDFjMjczNzQwNDkxZWVkNTdhNjA3YT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1163</Words>
  <Application>Microsoft Office PowerPoint</Application>
  <PresentationFormat>宽屏</PresentationFormat>
  <Paragraphs>177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6" baseType="lpstr">
      <vt:lpstr>Alibaba PuHuiTi R</vt:lpstr>
      <vt:lpstr>Stencil Std</vt:lpstr>
      <vt:lpstr>等线</vt:lpstr>
      <vt:lpstr>等线 Light</vt:lpstr>
      <vt:lpstr>方正黑体简体</vt:lpstr>
      <vt:lpstr>Arial</vt:lpstr>
      <vt:lpstr>Courier New</vt:lpstr>
      <vt:lpstr>Times New Roman</vt:lpstr>
      <vt:lpstr>Verdana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Junhao ZHANG</cp:lastModifiedBy>
  <cp:revision>260</cp:revision>
  <dcterms:created xsi:type="dcterms:W3CDTF">2023-10-28T05:40:00Z</dcterms:created>
  <dcterms:modified xsi:type="dcterms:W3CDTF">2026-07-06T06:28:49Z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8AEF69F717F259CFE39E3C65F5086652</vt:lpwstr>
  </property>
  <property fmtid="{D5CDD505-2E9C-101B-9397-08002B2CF9AE}" pid="3" name="KSOProductBuildVer">
    <vt:lpwstr>2052-12.1.0.21171</vt:lpwstr>
  </property>
</Properties>
</file>